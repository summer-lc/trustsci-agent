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4f9aecd49f4b9b" /><Relationship Type="http://schemas.openxmlformats.org/officeDocument/2006/relationships/extended-properties" Target="/docProps/app.xml" Id="R894b5a0b22944320" /><Relationship Type="http://schemas.openxmlformats.org/officeDocument/2006/relationships/officeDocument" Target="/ppt/presentation.xml" Id="R4a66678ba66947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13f31832ae4722"/>
  </p:sldMasterIdLst>
  <p:notesMasterIdLst>
    <p:notesMasterId xmlns:r="http://schemas.openxmlformats.org/officeDocument/2006/relationships" r:id="R5d39875a451d4491"/>
  </p:notesMasterIdLst>
  <p:sldIdLst>
    <p:sldId xmlns:r="http://schemas.openxmlformats.org/officeDocument/2006/relationships" id="256" r:id="R536880bc2d0a4cdd"/>
    <p:sldId xmlns:r="http://schemas.openxmlformats.org/officeDocument/2006/relationships" id="257" r:id="Rcd26c58e27174882"/>
    <p:sldId xmlns:r="http://schemas.openxmlformats.org/officeDocument/2006/relationships" id="258" r:id="Rc184a2065b2e43ca"/>
    <p:sldId xmlns:r="http://schemas.openxmlformats.org/officeDocument/2006/relationships" id="259" r:id="R7e5e54ea26384139"/>
    <p:sldId xmlns:r="http://schemas.openxmlformats.org/officeDocument/2006/relationships" id="260" r:id="R0c9b6440897441b9"/>
    <p:sldId xmlns:r="http://schemas.openxmlformats.org/officeDocument/2006/relationships" id="261" r:id="R3bd87b27066b4e22"/>
    <p:sldId xmlns:r="http://schemas.openxmlformats.org/officeDocument/2006/relationships" id="262" r:id="R03126fd945464767"/>
    <p:sldId xmlns:r="http://schemas.openxmlformats.org/officeDocument/2006/relationships" id="263" r:id="Re19f47f0985d48f5"/>
    <p:sldId xmlns:r="http://schemas.openxmlformats.org/officeDocument/2006/relationships" id="264" r:id="Rcc7352813ce24141"/>
    <p:sldId xmlns:r="http://schemas.openxmlformats.org/officeDocument/2006/relationships" id="265" r:id="Rd1db31c699d34928"/>
    <p:sldId xmlns:r="http://schemas.openxmlformats.org/officeDocument/2006/relationships" id="266" r:id="Re607e5aa3d5c4f0e"/>
    <p:sldId xmlns:r="http://schemas.openxmlformats.org/officeDocument/2006/relationships" id="267" r:id="Rf780262de2094a86"/>
    <p:sldId xmlns:r="http://schemas.openxmlformats.org/officeDocument/2006/relationships" id="268" r:id="R0bf10d6577854036"/>
    <p:sldId xmlns:r="http://schemas.openxmlformats.org/officeDocument/2006/relationships" id="269" r:id="R4d6fdd74ea774641"/>
    <p:sldId xmlns:r="http://schemas.openxmlformats.org/officeDocument/2006/relationships" id="270" r:id="R061b646bedf64759"/>
    <p:sldId xmlns:r="http://schemas.openxmlformats.org/officeDocument/2006/relationships" id="271" r:id="R0e6e96d08dd04d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108d6386ba44f4" /><Relationship Type="http://schemas.openxmlformats.org/officeDocument/2006/relationships/slideMaster" Target="/ppt/slideMasters/slideMaster1.xml" Id="Rda13f31832ae4722" /><Relationship Type="http://schemas.openxmlformats.org/officeDocument/2006/relationships/notesMaster" Target="/ppt/notesMasters/notesMaster1.xml" Id="R5d39875a451d4491" /><Relationship Type="http://schemas.openxmlformats.org/officeDocument/2006/relationships/presProps" Target="/ppt/presProps.xml" Id="Red063a65d51040c8" /><Relationship Type="http://schemas.openxmlformats.org/officeDocument/2006/relationships/viewProps" Target="/ppt/viewProps.xml" Id="R23f4286198974526" /><Relationship Type="http://schemas.openxmlformats.org/officeDocument/2006/relationships/tableStyles" Target="/ppt/tableStyles.xml" Id="Rc3fcb92b14784194" /><Relationship Type="http://schemas.openxmlformats.org/officeDocument/2006/relationships/slide" Target="/ppt/slides/slide1.xml" Id="R536880bc2d0a4cdd" /><Relationship Type="http://schemas.openxmlformats.org/officeDocument/2006/relationships/slide" Target="/ppt/slides/slide2.xml" Id="Rcd26c58e27174882" /><Relationship Type="http://schemas.openxmlformats.org/officeDocument/2006/relationships/slide" Target="/ppt/slides/slide3.xml" Id="Rc184a2065b2e43ca" /><Relationship Type="http://schemas.openxmlformats.org/officeDocument/2006/relationships/slide" Target="/ppt/slides/slide4.xml" Id="R7e5e54ea26384139" /><Relationship Type="http://schemas.openxmlformats.org/officeDocument/2006/relationships/slide" Target="/ppt/slides/slide5.xml" Id="R0c9b6440897441b9" /><Relationship Type="http://schemas.openxmlformats.org/officeDocument/2006/relationships/slide" Target="/ppt/slides/slide6.xml" Id="R3bd87b27066b4e22" /><Relationship Type="http://schemas.openxmlformats.org/officeDocument/2006/relationships/slide" Target="/ppt/slides/slide7.xml" Id="R03126fd945464767" /><Relationship Type="http://schemas.openxmlformats.org/officeDocument/2006/relationships/slide" Target="/ppt/slides/slide8.xml" Id="Re19f47f0985d48f5" /><Relationship Type="http://schemas.openxmlformats.org/officeDocument/2006/relationships/slide" Target="/ppt/slides/slide9.xml" Id="Rcc7352813ce24141" /><Relationship Type="http://schemas.openxmlformats.org/officeDocument/2006/relationships/slide" Target="/ppt/slides/slide10.xml" Id="Rd1db31c699d34928" /><Relationship Type="http://schemas.openxmlformats.org/officeDocument/2006/relationships/slide" Target="/ppt/slides/slide11.xml" Id="Re607e5aa3d5c4f0e" /><Relationship Type="http://schemas.openxmlformats.org/officeDocument/2006/relationships/slide" Target="/ppt/slides/slide12.xml" Id="Rf780262de2094a86" /><Relationship Type="http://schemas.openxmlformats.org/officeDocument/2006/relationships/slide" Target="/ppt/slides/slide13.xml" Id="R0bf10d6577854036" /><Relationship Type="http://schemas.openxmlformats.org/officeDocument/2006/relationships/slide" Target="/ppt/slides/slide14.xml" Id="R4d6fdd74ea774641" /><Relationship Type="http://schemas.openxmlformats.org/officeDocument/2006/relationships/slide" Target="/ppt/slides/slide15.xml" Id="R061b646bedf64759" /><Relationship Type="http://schemas.openxmlformats.org/officeDocument/2006/relationships/slide" Target="/ppt/slides/slide16.xml" Id="R0e6e96d08dd04d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48905bef924e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原创作者：剑如虹设计">
  <a:themeElements>
    <a:clrScheme name="剑如虹（蓝色）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54286"/>
      </a:accent1>
      <a:accent2>
        <a:srgbClr val="DEA74A"/>
      </a:accent2>
      <a:accent3>
        <a:srgbClr val="C8102E"/>
      </a:accent3>
      <a:accent4>
        <a:srgbClr val="D3385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商务风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剑如虹（蓝色）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a507ae582d4476" /><Relationship Type="http://schemas.openxmlformats.org/officeDocument/2006/relationships/notesMaster" Target="/ppt/notesMasters/notesMaster1.xml" Id="Rb58dc0cbc99747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1d116da2214fcf" /><Relationship Type="http://schemas.openxmlformats.org/officeDocument/2006/relationships/notesMaster" Target="/ppt/notesMasters/notesMaster1.xml" Id="Rcc90dec30ebd42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751e7aa01d427c" /><Relationship Type="http://schemas.openxmlformats.org/officeDocument/2006/relationships/notesMaster" Target="/ppt/notesMasters/notesMaster1.xml" Id="R74f945fc091545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73712da1fc4e0e" /><Relationship Type="http://schemas.openxmlformats.org/officeDocument/2006/relationships/notesMaster" Target="/ppt/notesMasters/notesMaster1.xml" Id="R9e8a274a28104f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c69684853d4343" /><Relationship Type="http://schemas.openxmlformats.org/officeDocument/2006/relationships/notesMaster" Target="/ppt/notesMasters/notesMaster1.xml" Id="R020f293c815b49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cccbfe48754209" /><Relationship Type="http://schemas.openxmlformats.org/officeDocument/2006/relationships/notesMaster" Target="/ppt/notesMasters/notesMaster1.xml" Id="Rf8ba225115234d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54895474e0438a" /><Relationship Type="http://schemas.openxmlformats.org/officeDocument/2006/relationships/notesMaster" Target="/ppt/notesMasters/notesMaster1.xml" Id="R623f248e1aae4f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7286a5ab8449ae" /><Relationship Type="http://schemas.openxmlformats.org/officeDocument/2006/relationships/notesMaster" Target="/ppt/notesMasters/notesMaster1.xml" Id="R3c6d6c5e83f447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0cbee4d7c54471" /><Relationship Type="http://schemas.openxmlformats.org/officeDocument/2006/relationships/notesMaster" Target="/ppt/notesMasters/notesMaster1.xml" Id="R0352e65032604d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aa439623e44f50" /><Relationship Type="http://schemas.openxmlformats.org/officeDocument/2006/relationships/notesMaster" Target="/ppt/notesMasters/notesMaster1.xml" Id="Ra3c88bd0e6f94d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0d28d93a3d4978" /><Relationship Type="http://schemas.openxmlformats.org/officeDocument/2006/relationships/notesMaster" Target="/ppt/notesMasters/notesMaster1.xml" Id="R71c607ded6cc4a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8db2223f2e4b87" /><Relationship Type="http://schemas.openxmlformats.org/officeDocument/2006/relationships/notesMaster" Target="/ppt/notesMasters/notesMaster1.xml" Id="R1f3779af9fc14d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a8cd9291144317" /><Relationship Type="http://schemas.openxmlformats.org/officeDocument/2006/relationships/notesMaster" Target="/ppt/notesMasters/notesMaster1.xml" Id="R08f1c15f03c745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6943db354c4745" /><Relationship Type="http://schemas.openxmlformats.org/officeDocument/2006/relationships/notesMaster" Target="/ppt/notesMasters/notesMaster1.xml" Id="Rba8d6752686c40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b87289e112470e" /><Relationship Type="http://schemas.openxmlformats.org/officeDocument/2006/relationships/notesMaster" Target="/ppt/notesMasters/notesMaster1.xml" Id="R7a2c33903d8e41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6c273ba25f43e0" /><Relationship Type="http://schemas.openxmlformats.org/officeDocument/2006/relationships/notesMaster" Target="/ppt/notesMasters/notesMaster1.xml" Id="R911c9b54d75a47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本地运行截图：项目展示/功能截图/00_学生端_多源知识问答.jpg</a:t>
            </a:r>
          </a:p>
          <a:p xmlns:a="http://schemas.openxmlformats.org/drawingml/2006/main">
            <a:r>
              <a:t>- 学校模板：项目展示/模板.pptx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本地运行截图：项目展示/功能截图/00_学生端_多源知识问答.jpg</a:t>
            </a:r>
          </a:p>
          <a:p xmlns:a="http://schemas.openxmlformats.org/drawingml/2006/main">
            <a:r>
              <a:t>- 本地项目实现：src/index.html、src/langgraph_agent.py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本地运行截图：项目展示/功能截图/01_学生端_个性化学习中心.png</a:t>
            </a:r>
          </a:p>
          <a:p xmlns:a="http://schemas.openxmlformats.org/drawingml/2006/main">
            <a:r>
              <a:t>- 本地运行截图：项目展示/功能截图/02_学生端_智能测验.png</a:t>
            </a:r>
          </a:p>
          <a:p xmlns:a="http://schemas.openxmlformats.org/drawingml/2006/main">
            <a:r>
              <a:t>- 本地运行截图：项目展示/功能截图/03_学生端_智能测验判题.png</a:t>
            </a:r>
          </a:p>
          <a:p xmlns:a="http://schemas.openxmlformats.org/drawingml/2006/main">
            <a:r>
              <a:t>- 本地运行截图：项目展示/功能截图/04_学生端_错题本.png</a:t>
            </a:r>
          </a:p>
          <a:p xmlns:a="http://schemas.openxmlformats.org/drawingml/2006/main">
            <a:r>
              <a:t>- 本地项目实现：src/index.html、src/bkt.py、src/quiz_service.py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本地运行截图：项目展示/功能截图/05_学生端_我的作业.png</a:t>
            </a:r>
          </a:p>
          <a:p xmlns:a="http://schemas.openxmlformats.org/drawingml/2006/main">
            <a:r>
              <a:t>- 本地运行截图：项目展示/功能截图/06_学生端_AI批改反馈.png</a:t>
            </a:r>
          </a:p>
          <a:p xmlns:a="http://schemas.openxmlformats.org/drawingml/2006/main">
            <a:r>
              <a:t>- 本地项目实现：src/index.html、src/homework_service.py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本地运行截图：项目展示/功能截图/07_教师端_知识库管理.png</a:t>
            </a:r>
          </a:p>
          <a:p xmlns:a="http://schemas.openxmlformats.org/drawingml/2006/main">
            <a:r>
              <a:t>- 本地运行截图：项目展示/功能截图/08_教师端_学生名单.png</a:t>
            </a:r>
          </a:p>
          <a:p xmlns:a="http://schemas.openxmlformats.org/drawingml/2006/main">
            <a:r>
              <a:t>- 本地项目实现：src/index.html、src/file_processors.py、src/vector_store.py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本地运行截图：项目展示/功能截图/09_教师端_作业管理.png</a:t>
            </a:r>
          </a:p>
          <a:p xmlns:a="http://schemas.openxmlformats.org/drawingml/2006/main">
            <a:r>
              <a:t>- 本地运行截图：项目展示/功能截图/10_教师端_已布置作业.png</a:t>
            </a:r>
          </a:p>
          <a:p xmlns:a="http://schemas.openxmlformats.org/drawingml/2006/main">
            <a:r>
              <a:t>- 本地运行截图：项目展示/功能截图/11_教师端_作业提交与批改.png</a:t>
            </a:r>
          </a:p>
          <a:p xmlns:a="http://schemas.openxmlformats.org/drawingml/2006/main">
            <a:r>
              <a:t>- 本地项目实现：src/index.html、src/homework_service.py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本地运行截图：项目展示/功能截图/12_教师端_学生学习监测.png</a:t>
            </a:r>
          </a:p>
          <a:p xmlns:a="http://schemas.openxmlformats.org/drawingml/2006/main">
            <a:r>
              <a:t>- 本地运行截图：项目展示/功能截图/13_知识图谱_思维导图.jpg</a:t>
            </a:r>
          </a:p>
          <a:p xmlns:a="http://schemas.openxmlformats.org/drawingml/2006/main">
            <a:r>
              <a:t>- 本地项目实现：src/index.html、src/bkt.py、src/knowledge_graph.py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本地运行截图：项目展示/功能截图/14_管理端_数据概览.png</a:t>
            </a:r>
          </a:p>
          <a:p xmlns:a="http://schemas.openxmlformats.org/drawingml/2006/main">
            <a:r>
              <a:t>- 本地运行截图：项目展示/功能截图/15_管理端_用户管理.png</a:t>
            </a:r>
          </a:p>
          <a:p xmlns:a="http://schemas.openxmlformats.org/drawingml/2006/main">
            <a:r>
              <a:t>- 本地运行截图：项目展示/功能截图/16_管理端_系统配置.png</a:t>
            </a:r>
          </a:p>
          <a:p xmlns:a="http://schemas.openxmlformats.org/drawingml/2006/main">
            <a:r>
              <a:t>- 本地项目实现：src/admin.html、src/admin_api.py、src/settings_service.py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本地运行截图：项目展示/功能截图/00_学生端_多源知识问答.jpg</a:t>
            </a:r>
          </a:p>
          <a:p xmlns:a="http://schemas.openxmlformats.org/drawingml/2006/main">
            <a:r>
              <a:t>- 本地运行截图：项目展示/功能截图/07_教师端_知识库管理.png</a:t>
            </a:r>
          </a:p>
          <a:p xmlns:a="http://schemas.openxmlformats.org/drawingml/2006/main">
            <a:r>
              <a:t>- 本地运行截图：项目展示/功能截图/14_管理端_数据概览.png</a:t>
            </a:r>
          </a:p>
          <a:p xmlns:a="http://schemas.openxmlformats.org/drawingml/2006/main">
            <a:r>
              <a:t>- 学校模板：项目展示/模板.pptx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 TrustSci-Agent 科研工作台截图：界面截图/03-科研工作台.png</a:t>
            </a:r>
          </a:p>
          <a:p xmlns:a="http://schemas.openxmlformats.org/drawingml/2006/main">
            <a:r>
              <a:t>- 项目功能依据：README.md 与本地当前实现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本地系统入口与任务配置截图：界面截图/01-系统入口.png；界面截图/02-任务配置.png</a:t>
            </a:r>
          </a:p>
          <a:p xmlns:a="http://schemas.openxmlformats.org/drawingml/2006/main">
            <a:r>
              <a:t>- 项目功能依据：README.md 与本地当前实现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 TrustSci-Agent 科研工作台截图：界面截图/03-科研工作台.png</a:t>
            </a:r>
          </a:p>
          <a:p xmlns:a="http://schemas.openxmlformats.org/drawingml/2006/main">
            <a:r>
              <a:t>- 项目功能依据：README.md 与本地当前实现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本地文献、引用与证据截图：界面截图/04a-文献与论文.png；界面截图/04b-引用与证据.png</a:t>
            </a:r>
          </a:p>
          <a:p xmlns:a="http://schemas.openxmlformats.org/drawingml/2006/main">
            <a:r>
              <a:t>- 项目功能依据：README.md 与本地当前实现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本地假设竞技与可信基线截图：界面截图/05a-假设竞技.png；界面截图/05b-可信基线.png</a:t>
            </a:r>
          </a:p>
          <a:p xmlns:a="http://schemas.openxmlformats.org/drawingml/2006/main">
            <a:r>
              <a:t>- 项目功能依据：README.md 与本地当前实现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本地实验计划、代码、结果与反馈截图：界面截图/06a-实验计划与代码.png；界面截图/06b-实验结果与反馈.png</a:t>
            </a:r>
          </a:p>
          <a:p xmlns:a="http://schemas.openxmlformats.org/drawingml/2006/main">
            <a:r>
              <a:t>- 项目功能依据：README.md 与本地当前实现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本地报告审计与工作区截图：界面截图/07a-报告审计.png；界面截图/07b-报告与工作区.png</a:t>
            </a:r>
          </a:p>
          <a:p xmlns:a="http://schemas.openxmlformats.org/drawingml/2006/main">
            <a:r>
              <a:t>- 项目功能依据：README.md 与本地当前实现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d0aa773f94d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6280563fd4f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33e8be55944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0f2c0cd0445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4f5e7efc848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c1076690543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db56c1135432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7716660784b56" /><Relationship Type="http://schemas.openxmlformats.org/officeDocument/2006/relationships/image" Target="/ppt/media/image.png" Id="Rc45aa4b01eb443a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7997ddf394f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45202a8ce46c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908fed4de41c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1cdab4ec74cc3" /></Relationships>
</file>

<file path=ppt/slideLayouts/slideLayout1.xml><?xml version="1.0" encoding="utf-8"?>
<p:sldLayout xmlns:p="http://schemas.openxmlformats.org/presentationml/2006/main" preserve="1">
  <p:cSld name="6_仅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preserve="1">
  <p:cSld name="2_仅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>
  <p:cSld name="3_仅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preserve="1">
  <p:cSld name="4_仅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preserve="1">
  <p:cSld name="5_仅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4F41D32-59AC-40F2-BABC-371065C4FB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BD9FA0D-AFB3-4B62-A30A-08F9E806C2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FEDEC5A-A3E8-4AAF-883D-95C606570E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2BB774-CD50-4199-82D3-543080FD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-2394204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FC26B28-2B07-40EE-95D8-FD98577C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9525" y="306070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79491D9-66E9-4CEA-A9F5-0EDA1213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262" y="2851785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78C3737-7EB0-40F7-87F9-ED8C1DAF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7668538" y="1089025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pic>
        <p:nvPicPr>
          <p:cNvPr id="1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aa4b01eb443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0511" y="368300"/>
            <a:ext cx="1035552" cy="325330"/>
          </a:xfrm>
          <a:prstGeom xmlns:a="http://schemas.openxmlformats.org/drawingml/2006/main" prst="rect">
            <a:avLst/>
          </a:prstGeom>
        </p:spPr>
      </p:pic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3043A862-8627-44D0-9334-B1135F26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82989"/>
            <a:ext cx="10980738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tx2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9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C214CF7-7FD0-4B84-BC55-C939826B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528577"/>
            <a:ext cx="2623502" cy="3446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9B5DF7C-DB45-4D85-B1A5-5924E812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528577"/>
            <a:ext cx="3048000" cy="3446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A30BD0F-4031-4487-B543-7D13E5FD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8000" y="6533268"/>
            <a:ext cx="30480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33D3036-235F-4564-966D-447F13E5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1837" y="6537960"/>
            <a:ext cx="30480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BBF5174-5DE9-4BDE-A803-63895CA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6537960"/>
            <a:ext cx="30480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90A43E3-E33C-4DC6-9CA7-70355EAA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986" y="655163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研究背景与意义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DFBC2D3E-8896-457A-B971-079F836D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17986" y="6546946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研究内容与方法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3CEB092-D2D7-4070-A7FA-5BED912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1823" y="655163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研究结果与分析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3A0A2A2-94BE-4A00-A883-5F9FA7DB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13986" y="655163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3AC972A9-AF0A-45E2-A987-1C8ED30D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-2295144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F86EE397-B1B0-4FF3-ACEE-D6898855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8796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FB17B668-ECB6-40AA-823E-EB4D1EDA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-2394204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F83D1BCB-B919-4963-86A2-00A541D1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9525" y="306070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DBA81254-E4B0-4372-BC3C-7877175F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262" y="2851785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C229469C-6C76-4FE1-96D9-34AE1DF9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7668538" y="1089025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3DCF735-1305-48AC-9EE2-DB05BCBA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513337"/>
            <a:ext cx="2623502" cy="3446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78E4523-2A85-4555-9531-1D40EC62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513337"/>
            <a:ext cx="3048000" cy="3446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46EF4CF-EEC0-4DCD-93F3-7611227E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8000" y="6522720"/>
            <a:ext cx="30480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5804768-2BB5-466F-AAD5-B3AF48F7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1837" y="6522720"/>
            <a:ext cx="30480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D1DD4DC-E882-4616-B6BF-D53E4D15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6522720"/>
            <a:ext cx="30480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E1DDDC14-DE6F-4E33-BED6-BB03F3D7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986" y="653639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研究背景与意义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0E28FBC8-BA55-4908-AC6F-E50BFD16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17986" y="653639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研究内容与方法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34D992A2-F492-4BD0-A0D2-99BBBFB1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1823" y="653639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研究结果与分析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5C84737-3946-466C-B8E2-0F99FDF0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13986" y="653639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466D4C1D-8F5B-4984-884A-1CB9223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-2295144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C975738-270A-4651-A12C-2A01C859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8796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327FB32-7807-4947-9696-582B201E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-2394204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E2B70A69-E664-4A22-AFCA-2DAC601A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9525" y="306070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CEAB5EE-CF82-4486-8087-CDC1DB44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262" y="2851785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1F9FFBF3-0225-424C-AFE9-9592C294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7668538" y="1089025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26E7177-B7A9-4D6B-9E10-091BB3F9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513337"/>
            <a:ext cx="2623502" cy="3446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C80D3FC-CFBF-41F6-A680-40DAA445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513337"/>
            <a:ext cx="3048000" cy="3446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61B8346-4541-4DDC-B75F-E7093EF4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8000" y="6522720"/>
            <a:ext cx="30480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6EA117E-367D-4CF1-A70E-DB526A8D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1837" y="6522720"/>
            <a:ext cx="30480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C1BCA56-B789-4F22-BDE8-3D78A542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6522720"/>
            <a:ext cx="30480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160E50C4-87B3-47A0-AD4C-04AC80CE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986" y="653639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研究背景与意义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CD5FA280-36CD-42F6-9301-5C1CE72D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17986" y="653639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研究内容与方法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83E87D20-2DE5-47AB-99C6-104D1344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1823" y="653639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研究结果与分析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839746A4-7681-4497-AB74-EEB44887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13986" y="653639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B264F19-7429-46EE-BD03-4E9A916B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-2295144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C40F75B-1AEE-4612-88F7-C932C8DC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8796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8E85CE2-6CAF-4FCF-AAF5-93C3E7E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-2394204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1F114BC-89E0-4EFF-B937-09AF1325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9525" y="306070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D88A3D6-A1A5-4D9D-B63E-6C99F167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262" y="2851785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DBBD504-4268-478E-8DB0-315CB5B9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7668538" y="1089025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9A9040CD-5282-4A97-9064-4ADB59DF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513337"/>
            <a:ext cx="2623502" cy="3446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FAFFADAD-F0A1-426C-AA05-1F8B84DC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513337"/>
            <a:ext cx="3048000" cy="3446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6171DA05-AE21-4D12-9119-5DD51907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8000" y="6522720"/>
            <a:ext cx="30480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1F7D3F49-C34F-4652-B5F5-7801D70A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1837" y="6522720"/>
            <a:ext cx="30480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95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B23FAE90-C235-4450-BC82-8D71A449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6522720"/>
            <a:ext cx="30480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82296" tIns="41148" rIns="82296" bIns="41148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62BA98F-22F6-46A5-BE4D-C9555191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986" y="653639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研究背景与意义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CD417049-BB1F-4433-B32E-0E50B844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17986" y="653639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研究内容与方法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546F3DD3-C34B-4429-98AF-FD7FD6A4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1823" y="653639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研究结果与分析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9C3C18F1-2989-4641-A68C-3A01945C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13986" y="6536397"/>
            <a:ext cx="2308028" cy="29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2296" tIns="41148" rIns="82296" bIns="4114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A92C9C2-061B-4659-8839-CC8C6FA2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-2295144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110308-53E0-4225-AB47-12CF9C1B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8796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3C1C697-04AC-425D-B81D-7A5333A4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-2394204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C79556D-C942-495F-B0D5-EA059F26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9525" y="306070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BFE8A20-D7E6-4F45-9B11-DDECAF2C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262" y="2851785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767500A-252D-430D-9BF5-C333403A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7668538" y="1089025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429819a5df4eb1" /><Relationship Type="http://schemas.openxmlformats.org/officeDocument/2006/relationships/slideLayout" Target="/ppt/slideLayouts/slideLayout1.xml" Id="Re4fffe5f57c94d1d" /><Relationship Type="http://schemas.openxmlformats.org/officeDocument/2006/relationships/slideLayout" Target="/ppt/slideLayouts/slideLayout2.xml" Id="Rd41441edaa654fbf" /><Relationship Type="http://schemas.openxmlformats.org/officeDocument/2006/relationships/slideLayout" Target="/ppt/slideLayouts/slideLayout3.xml" Id="Rd7deb30daefb4e8b" /><Relationship Type="http://schemas.openxmlformats.org/officeDocument/2006/relationships/slideLayout" Target="/ppt/slideLayouts/slideLayout4.xml" Id="R5d32049ca5ae43ea" /><Relationship Type="http://schemas.openxmlformats.org/officeDocument/2006/relationships/slideLayout" Target="/ppt/slideLayouts/slideLayout5.xml" Id="R47a9959957aa42f4" /><Relationship Type="http://schemas.openxmlformats.org/officeDocument/2006/relationships/slideLayout" Target="/ppt/slideLayouts/slideLayout6.xml" Id="R2cce3a28ab544001" /><Relationship Type="http://schemas.openxmlformats.org/officeDocument/2006/relationships/slideLayout" Target="/ppt/slideLayouts/slideLayout7.xml" Id="R69fc23a2c5b34838" /><Relationship Type="http://schemas.openxmlformats.org/officeDocument/2006/relationships/slideLayout" Target="/ppt/slideLayouts/slideLayout8.xml" Id="R1e777bcc16cf416a" /><Relationship Type="http://schemas.openxmlformats.org/officeDocument/2006/relationships/slideLayout" Target="/ppt/slideLayouts/slideLayout9.xml" Id="R0af0c08aab294e9a" /><Relationship Type="http://schemas.openxmlformats.org/officeDocument/2006/relationships/slideLayout" Target="/ppt/slideLayouts/slideLayout10.xml" Id="R40d80bb9d4244b1b" /><Relationship Type="http://schemas.openxmlformats.org/officeDocument/2006/relationships/slideLayout" Target="/ppt/slideLayouts/slideLayout11.xml" Id="Ra3e251efb40c4904" /><Relationship Type="http://schemas.openxmlformats.org/officeDocument/2006/relationships/slideLayout" Target="/ppt/slideLayouts/slideLayout12.xml" Id="R783199bed4fa4c9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 hidden="1">
            <a:extLst xmlns:a="http://schemas.openxmlformats.org/drawingml/2006/main">
              <a:ext uri="{FF2B5EF4-FFF2-40B4-BE49-F238E27FC236}">
                <a16:creationId xmlns:a16="http://schemas.microsoft.com/office/drawing/2014/main" id="{22468231-CA96-4CF7-8492-695E3850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-2295144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9BAC36-F158-49BD-9E0C-EF634F63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8796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272ECDC-822F-4055-9EB3-334FFF36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-2394204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FAD4636-7CEE-4C06-A6F1-6D3C681F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9525" y="306070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E5127FC-A552-4182-81C3-543246DD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262" y="2851785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5FC0F7A-88F8-4B45-BEB9-D9F1CD31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7668538" y="1089025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9866F82-E005-4955-950B-2ACF00BB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-2378964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2E1DA98-CDC7-4AB7-90F3-2EB646A2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1925" y="321310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FAA4836-E274-4D84-892E-427986DD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62" y="28670250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7EB5CB9-B130-4ECA-A73F-7074D945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7516138" y="1241425"/>
            <a:ext cx="1098073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E4E4E4"/>
                </a:solidFill>
                <a:latin typeface="微软雅黑"/>
                <a:ea typeface="微软雅黑"/>
                <a:cs typeface="微软雅黑"/>
              </a:rPr>
              <a:t>北京科技大学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fffe5f57c94d1d"/>
    <p:sldLayoutId xmlns:r="http://schemas.openxmlformats.org/officeDocument/2006/relationships" id="2147483650" r:id="Rd41441edaa654fbf"/>
    <p:sldLayoutId xmlns:r="http://schemas.openxmlformats.org/officeDocument/2006/relationships" id="2147483651" r:id="Rd7deb30daefb4e8b"/>
    <p:sldLayoutId xmlns:r="http://schemas.openxmlformats.org/officeDocument/2006/relationships" id="2147483652" r:id="R5d32049ca5ae43ea"/>
    <p:sldLayoutId xmlns:r="http://schemas.openxmlformats.org/officeDocument/2006/relationships" id="2147483653" r:id="R47a9959957aa42f4"/>
    <p:sldLayoutId xmlns:r="http://schemas.openxmlformats.org/officeDocument/2006/relationships" id="2147483654" r:id="R2cce3a28ab544001"/>
    <p:sldLayoutId xmlns:r="http://schemas.openxmlformats.org/officeDocument/2006/relationships" id="2147483655" r:id="R69fc23a2c5b34838"/>
    <p:sldLayoutId xmlns:r="http://schemas.openxmlformats.org/officeDocument/2006/relationships" id="2147483656" r:id="R1e777bcc16cf416a"/>
    <p:sldLayoutId xmlns:r="http://schemas.openxmlformats.org/officeDocument/2006/relationships" id="2147483657" r:id="R0af0c08aab294e9a"/>
    <p:sldLayoutId xmlns:r="http://schemas.openxmlformats.org/officeDocument/2006/relationships" id="2147483658" r:id="R40d80bb9d4244b1b"/>
    <p:sldLayoutId xmlns:r="http://schemas.openxmlformats.org/officeDocument/2006/relationships" id="2147483659" r:id="Ra3e251efb40c4904"/>
    <p:sldLayoutId xmlns:r="http://schemas.openxmlformats.org/officeDocument/2006/relationships" id="2147483660" r:id="R783199bed4fa4c9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微软雅黑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微软雅黑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微软雅黑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微软雅黑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微软雅黑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微软雅黑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微软雅黑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微软雅黑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微软雅黑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原创作者：剑如虹设计">
  <a:themeElements>
    <a:clrScheme name="剑如虹（蓝色）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54286"/>
      </a:accent1>
      <a:accent2>
        <a:srgbClr val="DEA74A"/>
      </a:accent2>
      <a:accent3>
        <a:srgbClr val="C8102E"/>
      </a:accent3>
      <a:accent4>
        <a:srgbClr val="D3385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商务风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剑如虹（蓝色）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88a4393d444221" /><Relationship Type="http://schemas.openxmlformats.org/officeDocument/2006/relationships/image" Target="/ppt/media/image2.png" Id="R3544a2bfe2df4566" /><Relationship Type="http://schemas.openxmlformats.org/officeDocument/2006/relationships/image" Target="/ppt/media/image.jpeg" Id="R8cc3012e1c78446e" /><Relationship Type="http://schemas.openxmlformats.org/officeDocument/2006/relationships/notesSlide" Target="/ppt/notesSlides/notesSlide1.xml" Id="R9c5aa07dff244a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bdc4d88a974731" /><Relationship Type="http://schemas.openxmlformats.org/officeDocument/2006/relationships/image" Target="/ppt/media/image2.png" Id="R1ad1b53a862f45c3" /><Relationship Type="http://schemas.openxmlformats.org/officeDocument/2006/relationships/image" Target="/ppt/media/image2.jpeg" Id="R5ef75c439f674a66" /><Relationship Type="http://schemas.openxmlformats.org/officeDocument/2006/relationships/notesSlide" Target="/ppt/notesSlides/notesSlide2.xml" Id="R9a5e85ec1ada46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99a163e83d4136" /><Relationship Type="http://schemas.openxmlformats.org/officeDocument/2006/relationships/image" Target="/ppt/media/image2.png" Id="Rfdb999741f884fa4" /><Relationship Type="http://schemas.openxmlformats.org/officeDocument/2006/relationships/image" Target="/ppt/media/image3.jpeg" Id="R2b1a2ffb2fa5488a" /><Relationship Type="http://schemas.openxmlformats.org/officeDocument/2006/relationships/image" Target="/ppt/media/image4.jpeg" Id="Rc140f04ae07e46c5" /><Relationship Type="http://schemas.openxmlformats.org/officeDocument/2006/relationships/image" Target="/ppt/media/image5.jpeg" Id="R5e839e7d4bd84cae" /><Relationship Type="http://schemas.openxmlformats.org/officeDocument/2006/relationships/image" Target="/ppt/media/image6.jpeg" Id="R38f6b72f06bd4da1" /><Relationship Type="http://schemas.openxmlformats.org/officeDocument/2006/relationships/notesSlide" Target="/ppt/notesSlides/notesSlide3.xml" Id="R4af127d66d0e4e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5ef36d3fa04d1f" /><Relationship Type="http://schemas.openxmlformats.org/officeDocument/2006/relationships/image" Target="/ppt/media/image2.png" Id="Rff5d116ecd2e40aa" /><Relationship Type="http://schemas.openxmlformats.org/officeDocument/2006/relationships/image" Target="/ppt/media/image7.jpeg" Id="Rb2c1e91252fd4796" /><Relationship Type="http://schemas.openxmlformats.org/officeDocument/2006/relationships/image" Target="/ppt/media/image8.jpeg" Id="Rbeb3ca40fe8a4d35" /><Relationship Type="http://schemas.openxmlformats.org/officeDocument/2006/relationships/notesSlide" Target="/ppt/notesSlides/notesSlide4.xml" Id="Rfc0025e6e0d644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adabca9cd64837" /><Relationship Type="http://schemas.openxmlformats.org/officeDocument/2006/relationships/image" Target="/ppt/media/image2.png" Id="R67a14fce25e84685" /><Relationship Type="http://schemas.openxmlformats.org/officeDocument/2006/relationships/image" Target="/ppt/media/image9.jpeg" Id="Rff685ec8a2da4dd1" /><Relationship Type="http://schemas.openxmlformats.org/officeDocument/2006/relationships/image" Target="/ppt/media/image10.jpeg" Id="Raa591a1e19414540" /><Relationship Type="http://schemas.openxmlformats.org/officeDocument/2006/relationships/notesSlide" Target="/ppt/notesSlides/notesSlide5.xml" Id="R05dc67ec36f849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3de36520d246e4" /><Relationship Type="http://schemas.openxmlformats.org/officeDocument/2006/relationships/image" Target="/ppt/media/image2.png" Id="Rd6cc053b817b49e7" /><Relationship Type="http://schemas.openxmlformats.org/officeDocument/2006/relationships/image" Target="/ppt/media/image11.jpeg" Id="Rf4b88257e6ae4c73" /><Relationship Type="http://schemas.openxmlformats.org/officeDocument/2006/relationships/image" Target="/ppt/media/image12.jpeg" Id="Rdcf9b1fe97ab4415" /><Relationship Type="http://schemas.openxmlformats.org/officeDocument/2006/relationships/image" Target="/ppt/media/image13.jpeg" Id="Rb627046caf874850" /><Relationship Type="http://schemas.openxmlformats.org/officeDocument/2006/relationships/notesSlide" Target="/ppt/notesSlides/notesSlide6.xml" Id="R65a6ea389a6447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ede10e6a5449c0" /><Relationship Type="http://schemas.openxmlformats.org/officeDocument/2006/relationships/image" Target="/ppt/media/image2.png" Id="R17c83e8fa704458f" /><Relationship Type="http://schemas.openxmlformats.org/officeDocument/2006/relationships/image" Target="/ppt/media/image14.jpeg" Id="R3edf35787e7c4a3b" /><Relationship Type="http://schemas.openxmlformats.org/officeDocument/2006/relationships/image" Target="/ppt/media/image15.jpeg" Id="Rbfa72e206d614084" /><Relationship Type="http://schemas.openxmlformats.org/officeDocument/2006/relationships/notesSlide" Target="/ppt/notesSlides/notesSlide7.xml" Id="Rdbd73ab7d6e94c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c6bb53e3214bef" /><Relationship Type="http://schemas.openxmlformats.org/officeDocument/2006/relationships/image" Target="/ppt/media/image2.png" Id="R612e7646080c4bbb" /><Relationship Type="http://schemas.openxmlformats.org/officeDocument/2006/relationships/image" Target="/ppt/media/image3.png" Id="R168eb0638c024687" /><Relationship Type="http://schemas.openxmlformats.org/officeDocument/2006/relationships/image" Target="/ppt/media/image4.png" Id="Ra96a6cb6558543b9" /><Relationship Type="http://schemas.openxmlformats.org/officeDocument/2006/relationships/image" Target="/ppt/media/image5.png" Id="R88ba3f3a032a43eb" /><Relationship Type="http://schemas.openxmlformats.org/officeDocument/2006/relationships/notesSlide" Target="/ppt/notesSlides/notesSlide8.xml" Id="Re0dfd58e1e9d4d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3b21c4d64746b4" /><Relationship Type="http://schemas.openxmlformats.org/officeDocument/2006/relationships/image" Target="/ppt/media/image2.png" Id="Rfe757652c1564e50" /><Relationship Type="http://schemas.openxmlformats.org/officeDocument/2006/relationships/image" Target="/ppt/media/image16.jpeg" Id="Ra5d9ebaf23784bee" /><Relationship Type="http://schemas.openxmlformats.org/officeDocument/2006/relationships/image" Target="/ppt/media/image17.jpeg" Id="R7d38974191ef48e5" /><Relationship Type="http://schemas.openxmlformats.org/officeDocument/2006/relationships/image" Target="/ppt/media/image6.png" Id="Ra8fb86c514c64276" /><Relationship Type="http://schemas.openxmlformats.org/officeDocument/2006/relationships/notesSlide" Target="/ppt/notesSlides/notesSlide9.xml" Id="R380fcf5773db40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ac49df35c403e" /><Relationship Type="http://schemas.openxmlformats.org/officeDocument/2006/relationships/image" Target="/ppt/media/image2.png" Id="R8e5bb657d71d403b" /><Relationship Type="http://schemas.openxmlformats.org/officeDocument/2006/relationships/image" Target="/ppt/media/image7.png" Id="R47a428a4273341b7" /><Relationship Type="http://schemas.openxmlformats.org/officeDocument/2006/relationships/notesSlide" Target="/ppt/notesSlides/notesSlide10.xml" Id="Rc01f05a7eb2a44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3bb204fdf049ea" /><Relationship Type="http://schemas.openxmlformats.org/officeDocument/2006/relationships/image" Target="/ppt/media/image2.png" Id="R2d22fbe884354974" /><Relationship Type="http://schemas.openxmlformats.org/officeDocument/2006/relationships/image" Target="/ppt/media/image8.png" Id="Rb3cc7ceab4f24ba7" /><Relationship Type="http://schemas.openxmlformats.org/officeDocument/2006/relationships/image" Target="/ppt/media/image9.png" Id="Ra324098e7920487c" /><Relationship Type="http://schemas.openxmlformats.org/officeDocument/2006/relationships/notesSlide" Target="/ppt/notesSlides/notesSlide11.xml" Id="R6e3d74e4c43b48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4ca4903c7d41eb" /><Relationship Type="http://schemas.openxmlformats.org/officeDocument/2006/relationships/image" Target="/ppt/media/image2.png" Id="Re1f8cfd427a94931" /><Relationship Type="http://schemas.openxmlformats.org/officeDocument/2006/relationships/image" Target="/ppt/media/image7.png" Id="R75decb6ede514ae7" /><Relationship Type="http://schemas.openxmlformats.org/officeDocument/2006/relationships/notesSlide" Target="/ppt/notesSlides/notesSlide12.xml" Id="Rb272c8a0a25348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0fdd91a18f4a17" /><Relationship Type="http://schemas.openxmlformats.org/officeDocument/2006/relationships/image" Target="/ppt/media/image2.png" Id="Rc838d1e31db54d80" /><Relationship Type="http://schemas.openxmlformats.org/officeDocument/2006/relationships/image" Target="/ppt/media/image10.png" Id="R626783ad1a1b466f" /><Relationship Type="http://schemas.openxmlformats.org/officeDocument/2006/relationships/image" Target="/ppt/media/image11.png" Id="Ra62594a987e84fcb" /><Relationship Type="http://schemas.openxmlformats.org/officeDocument/2006/relationships/notesSlide" Target="/ppt/notesSlides/notesSlide13.xml" Id="R3424287f67fa42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b1f240f96f4a7a" /><Relationship Type="http://schemas.openxmlformats.org/officeDocument/2006/relationships/image" Target="/ppt/media/image2.png" Id="R8141fe1ca2654017" /><Relationship Type="http://schemas.openxmlformats.org/officeDocument/2006/relationships/image" Target="/ppt/media/image12.png" Id="R1e5161308b3043ca" /><Relationship Type="http://schemas.openxmlformats.org/officeDocument/2006/relationships/image" Target="/ppt/media/image13.png" Id="R7709d6678a5e4508" /><Relationship Type="http://schemas.openxmlformats.org/officeDocument/2006/relationships/notesSlide" Target="/ppt/notesSlides/notesSlide14.xml" Id="Rba6bc3945e6947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6e41468c54e19" /><Relationship Type="http://schemas.openxmlformats.org/officeDocument/2006/relationships/image" Target="/ppt/media/image2.png" Id="R6d981b5cdada486f" /><Relationship Type="http://schemas.openxmlformats.org/officeDocument/2006/relationships/image" Target="/ppt/media/image14.png" Id="R51b56b2426f64ed8" /><Relationship Type="http://schemas.openxmlformats.org/officeDocument/2006/relationships/image" Target="/ppt/media/image15.png" Id="R16644135faa3468a" /><Relationship Type="http://schemas.openxmlformats.org/officeDocument/2006/relationships/notesSlide" Target="/ppt/notesSlides/notesSlide15.xml" Id="Rcc12ebad905943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8110e34060416d" /><Relationship Type="http://schemas.openxmlformats.org/officeDocument/2006/relationships/image" Target="/ppt/media/image2.png" Id="R7834f85983734bcb" /><Relationship Type="http://schemas.openxmlformats.org/officeDocument/2006/relationships/image" Target="/ppt/media/image16.png" Id="R03de02525fb3455d" /><Relationship Type="http://schemas.openxmlformats.org/officeDocument/2006/relationships/notesSlide" Target="/ppt/notesSlides/notesSlide16.xml" Id="R4b549aa3575f41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F259EDDB-2AF9-4442-9E8A-2939E22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D074F7D4-C727-460A-B70A-B5DE8DE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8A2B3C03-8E2E-4879-A12E-023FC8C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4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4a2bfe2df4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cover-field">
            <a:extLst xmlns:a="http://schemas.openxmlformats.org/drawingml/2006/main">
              <a:ext uri="{FF2B5EF4-FFF2-40B4-BE49-F238E27FC236}">
                <a16:creationId xmlns:a16="http://schemas.microsoft.com/office/drawing/2014/main" id="{B1B4335F-43DF-4D92-81FF-C5F344A2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81150"/>
            <a:ext cx="5619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solidFill>
              <a:srgbClr val="F2F6FA"/>
            </a:solidFill>
            <a:prstDash val="solid"/>
          </a:ln>
        </p:spPr>
      </p:sp>
      <p:sp>
        <p:nvSpPr>
          <p:cNvPr id="109" name="academic-cover-hero-shadow">
            <a:extLst xmlns:a="http://schemas.openxmlformats.org/drawingml/2006/main">
              <a:ext uri="{FF2B5EF4-FFF2-40B4-BE49-F238E27FC236}">
                <a16:creationId xmlns:a16="http://schemas.microsoft.com/office/drawing/2014/main" id="{23E6B114-1CA8-4F8F-8445-D172497B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5191125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0" name="academic-cover-hero-frame">
            <a:extLst xmlns:a="http://schemas.openxmlformats.org/drawingml/2006/main">
              <a:ext uri="{FF2B5EF4-FFF2-40B4-BE49-F238E27FC236}">
                <a16:creationId xmlns:a16="http://schemas.microsoft.com/office/drawing/2014/main" id="{9A5A9ACD-91CA-42A4-BA9B-193CDF4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52292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3012e1c78446e"/>
          <a:stretch xmlns:a="http://schemas.openxmlformats.org/drawingml/2006/main"/>
        </p:blipFill>
        <p:spPr>
          <a:xfrm xmlns:a="http://schemas.openxmlformats.org/drawingml/2006/main">
            <a:off x="6191250" y="1821298"/>
            <a:ext cx="5191125" cy="2701054"/>
          </a:xfrm>
          <a:prstGeom xmlns:a="http://schemas.openxmlformats.org/drawingml/2006/main" prst="roundRect">
            <a:avLst>
              <a:gd name="adj" fmla="val 2797"/>
            </a:avLst>
          </a:prstGeom>
        </p:spPr>
      </p:pic>
      <p:sp>
        <p:nvSpPr>
          <p:cNvPr id="112" name="academic-cover-eyebrow">
            <a:extLst xmlns:a="http://schemas.openxmlformats.org/drawingml/2006/main">
              <a:ext uri="{FF2B5EF4-FFF2-40B4-BE49-F238E27FC236}">
                <a16:creationId xmlns:a16="http://schemas.microsoft.com/office/drawing/2014/main" id="{3A527B57-9B08-4B0B-9F3C-696695A0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校级项目成果汇报</a:t>
            </a:r>
          </a:p>
        </p:txBody>
      </p:sp>
      <p:sp>
        <p:nvSpPr>
          <p:cNvPr id="113" name="academic-cover-brand">
            <a:extLst xmlns:a="http://schemas.openxmlformats.org/drawingml/2006/main">
              <a:ext uri="{FF2B5EF4-FFF2-40B4-BE49-F238E27FC236}">
                <a16:creationId xmlns:a16="http://schemas.microsoft.com/office/drawing/2014/main" id="{A18DABA2-777C-4F51-82D9-8CBB67C7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EduMate</a:t>
            </a:r>
          </a:p>
        </p:txBody>
      </p:sp>
      <p:sp>
        <p:nvSpPr>
          <p:cNvPr id="114" name="academic-cover-title">
            <a:extLst xmlns:a="http://schemas.openxmlformats.org/drawingml/2006/main">
              <a:ext uri="{FF2B5EF4-FFF2-40B4-BE49-F238E27FC236}">
                <a16:creationId xmlns:a16="http://schemas.microsoft.com/office/drawing/2014/main" id="{E2470EB5-DDA8-4B1B-B38E-EE81F725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智慧教学辅助系统</a:t>
            </a:r>
          </a:p>
        </p:txBody>
      </p:sp>
      <p:sp>
        <p:nvSpPr>
          <p:cNvPr id="115" name="academic-cover-subtitle">
            <a:extLst xmlns:a="http://schemas.openxmlformats.org/drawingml/2006/main">
              <a:ext uri="{FF2B5EF4-FFF2-40B4-BE49-F238E27FC236}">
                <a16:creationId xmlns:a16="http://schemas.microsoft.com/office/drawing/2014/main" id="{9ED70FC6-B207-4850-B7F6-53885B23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系统功能与应用成果展示</a:t>
            </a:r>
          </a:p>
        </p:txBody>
      </p:sp>
      <p:sp>
        <p:nvSpPr>
          <p:cNvPr id="116" name="academic-cover-summary">
            <a:extLst xmlns:a="http://schemas.openxmlformats.org/drawingml/2006/main">
              <a:ext uri="{FF2B5EF4-FFF2-40B4-BE49-F238E27FC236}">
                <a16:creationId xmlns:a16="http://schemas.microsoft.com/office/drawing/2014/main" id="{418B3520-3D2E-476E-9B91-5A183C7D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D7D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D8E"/>
                </a:solidFill>
                <a:latin typeface="Microsoft YaHei"/>
                <a:ea typeface="Microsoft YaHei"/>
                <a:cs typeface="Microsoft YaHei"/>
              </a:rPr>
              <a:t>面向学生学习、教师教学与平台管理的应用示范</a:t>
            </a:r>
          </a:p>
        </p:txBody>
      </p:sp>
      <p:sp>
        <p:nvSpPr>
          <p:cNvPr id="117" name="academic-cover-figure-label">
            <a:extLst xmlns:a="http://schemas.openxmlformats.org/drawingml/2006/main">
              <a:ext uri="{FF2B5EF4-FFF2-40B4-BE49-F238E27FC236}">
                <a16:creationId xmlns:a16="http://schemas.microsoft.com/office/drawing/2014/main" id="{51759EC1-C0C0-49F1-8EEE-57E0D850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真实系统界面</a:t>
            </a:r>
          </a:p>
        </p:txBody>
      </p:sp>
      <p:sp>
        <p:nvSpPr>
          <p:cNvPr id="118" name="academic-cover-page">
            <a:extLst xmlns:a="http://schemas.openxmlformats.org/drawingml/2006/main">
              <a:ext uri="{FF2B5EF4-FFF2-40B4-BE49-F238E27FC236}">
                <a16:creationId xmlns:a16="http://schemas.microsoft.com/office/drawing/2014/main" id="{7E13F2B3-6660-4825-B090-9A15EA2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4837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F259EDDB-2AF9-4442-9E8A-2939E22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D074F7D4-C727-460A-B70A-B5DE8DE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8A2B3C03-8E2E-4879-A12E-023FC8C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8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1b53a862f45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2-role">
            <a:extLst xmlns:a="http://schemas.openxmlformats.org/drawingml/2006/main">
              <a:ext uri="{FF2B5EF4-FFF2-40B4-BE49-F238E27FC236}">
                <a16:creationId xmlns:a16="http://schemas.microsoft.com/office/drawing/2014/main" id="{E90A0E7A-66A6-4B62-A9F4-AC6B16A2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109" name="academic-2-title">
            <a:extLst xmlns:a="http://schemas.openxmlformats.org/drawingml/2006/main">
              <a:ext uri="{FF2B5EF4-FFF2-40B4-BE49-F238E27FC236}">
                <a16:creationId xmlns:a16="http://schemas.microsoft.com/office/drawing/2014/main" id="{D765400B-BC2C-46A1-B3F1-C2CC7822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多源知识问答，让学生知道答案从哪里来</a:t>
            </a:r>
          </a:p>
        </p:txBody>
      </p:sp>
      <p:sp>
        <p:nvSpPr>
          <p:cNvPr id="110" name="academic-2-page">
            <a:extLst xmlns:a="http://schemas.openxmlformats.org/drawingml/2006/main">
              <a:ext uri="{FF2B5EF4-FFF2-40B4-BE49-F238E27FC236}">
                <a16:creationId xmlns:a16="http://schemas.microsoft.com/office/drawing/2014/main" id="{3B5AB766-72B8-4D14-A77B-CD52643E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1" name="academic-qa-hero-shadow">
            <a:extLst xmlns:a="http://schemas.openxmlformats.org/drawingml/2006/main">
              <a:ext uri="{FF2B5EF4-FFF2-40B4-BE49-F238E27FC236}">
                <a16:creationId xmlns:a16="http://schemas.microsoft.com/office/drawing/2014/main" id="{7647E5BD-7D4B-467D-B68E-2F3191B8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814387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2" name="academic-qa-hero-frame">
            <a:extLst xmlns:a="http://schemas.openxmlformats.org/drawingml/2006/main">
              <a:ext uri="{FF2B5EF4-FFF2-40B4-BE49-F238E27FC236}">
                <a16:creationId xmlns:a16="http://schemas.microsoft.com/office/drawing/2014/main" id="{2498BAE1-C74C-4F2D-BDE5-3AF77D21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057400"/>
            <a:ext cx="8181975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75c439f674a66"/>
          <a:stretch xmlns:a="http://schemas.openxmlformats.org/drawingml/2006/main"/>
        </p:blipFill>
        <p:spPr>
          <a:xfrm xmlns:a="http://schemas.openxmlformats.org/drawingml/2006/main">
            <a:off x="843085" y="2076450"/>
            <a:ext cx="7505455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114" name="academic-qa-note-one-number">
            <a:extLst xmlns:a="http://schemas.openxmlformats.org/drawingml/2006/main">
              <a:ext uri="{FF2B5EF4-FFF2-40B4-BE49-F238E27FC236}">
                <a16:creationId xmlns:a16="http://schemas.microsoft.com/office/drawing/2014/main" id="{27C7B291-9066-4002-A767-37D6E98F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47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5" name="academic-qa-note-one-title">
            <a:extLst xmlns:a="http://schemas.openxmlformats.org/drawingml/2006/main">
              <a:ext uri="{FF2B5EF4-FFF2-40B4-BE49-F238E27FC236}">
                <a16:creationId xmlns:a16="http://schemas.microsoft.com/office/drawing/2014/main" id="{C2E56FED-4061-44A9-8512-7F45F8B9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38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选定课程范围</a:t>
            </a:r>
          </a:p>
        </p:txBody>
      </p:sp>
      <p:sp>
        <p:nvSpPr>
          <p:cNvPr id="116" name="academic-qa-note-one-body">
            <a:extLst xmlns:a="http://schemas.openxmlformats.org/drawingml/2006/main">
              <a:ext uri="{FF2B5EF4-FFF2-40B4-BE49-F238E27FC236}">
                <a16:creationId xmlns:a16="http://schemas.microsoft.com/office/drawing/2014/main" id="{4323E293-AFF4-483A-A7C2-0A539327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431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D7D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D8E"/>
                </a:solidFill>
                <a:latin typeface="Microsoft YaHei"/>
                <a:ea typeface="Microsoft YaHei"/>
                <a:cs typeface="Microsoft YaHei"/>
              </a:rPr>
              <a:t>按课程和知识库提问，回答不脱离教学内容。</a:t>
            </a:r>
          </a:p>
        </p:txBody>
      </p:sp>
      <p:sp>
        <p:nvSpPr>
          <p:cNvPr id="117" name="academic-qa-note-two-number">
            <a:extLst xmlns:a="http://schemas.openxmlformats.org/drawingml/2006/main">
              <a:ext uri="{FF2B5EF4-FFF2-40B4-BE49-F238E27FC236}">
                <a16:creationId xmlns:a16="http://schemas.microsoft.com/office/drawing/2014/main" id="{854D5CD1-1668-471C-AAF1-EC10FEB2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86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8" name="academic-qa-note-two-title">
            <a:extLst xmlns:a="http://schemas.openxmlformats.org/drawingml/2006/main">
              <a:ext uri="{FF2B5EF4-FFF2-40B4-BE49-F238E27FC236}">
                <a16:creationId xmlns:a16="http://schemas.microsoft.com/office/drawing/2014/main" id="{7A3C950A-301B-4355-977D-B7212EE7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76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核对答案依据</a:t>
            </a:r>
          </a:p>
        </p:txBody>
      </p:sp>
      <p:sp>
        <p:nvSpPr>
          <p:cNvPr id="119" name="academic-qa-note-two-body">
            <a:extLst xmlns:a="http://schemas.openxmlformats.org/drawingml/2006/main">
              <a:ext uri="{FF2B5EF4-FFF2-40B4-BE49-F238E27FC236}">
                <a16:creationId xmlns:a16="http://schemas.microsoft.com/office/drawing/2014/main" id="{B12C3BF4-290D-44D2-942D-79C265AC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814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D7D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D8E"/>
                </a:solidFill>
                <a:latin typeface="Microsoft YaHei"/>
                <a:ea typeface="Microsoft YaHei"/>
                <a:cs typeface="Microsoft YaHei"/>
              </a:rPr>
              <a:t>回答附带来源，学生可以回到原文查看。</a:t>
            </a:r>
          </a:p>
        </p:txBody>
      </p:sp>
      <p:sp>
        <p:nvSpPr>
          <p:cNvPr id="120" name="academic-qa-note-three-number">
            <a:extLst xmlns:a="http://schemas.openxmlformats.org/drawingml/2006/main">
              <a:ext uri="{FF2B5EF4-FFF2-40B4-BE49-F238E27FC236}">
                <a16:creationId xmlns:a16="http://schemas.microsoft.com/office/drawing/2014/main" id="{C81CA580-1CED-4BF7-A8EF-551AC56D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244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1" name="academic-qa-note-three-title">
            <a:extLst xmlns:a="http://schemas.openxmlformats.org/drawingml/2006/main">
              <a:ext uri="{FF2B5EF4-FFF2-40B4-BE49-F238E27FC236}">
                <a16:creationId xmlns:a16="http://schemas.microsoft.com/office/drawing/2014/main" id="{1501D4E4-BFDA-49BE-B7EC-1481C142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14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继续追问</a:t>
            </a:r>
          </a:p>
        </p:txBody>
      </p:sp>
      <p:sp>
        <p:nvSpPr>
          <p:cNvPr id="122" name="academic-qa-note-three-body">
            <a:extLst xmlns:a="http://schemas.openxmlformats.org/drawingml/2006/main">
              <a:ext uri="{FF2B5EF4-FFF2-40B4-BE49-F238E27FC236}">
                <a16:creationId xmlns:a16="http://schemas.microsoft.com/office/drawing/2014/main" id="{B29C8BDC-B38E-43F0-8F3D-0BA3526D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96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D7D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D8E"/>
                </a:solidFill>
                <a:latin typeface="Microsoft YaHei"/>
                <a:ea typeface="Microsoft YaHei"/>
                <a:cs typeface="Microsoft YaHei"/>
              </a:rPr>
              <a:t>保留上下文，适合围绕同一问题逐步展开。</a:t>
            </a:r>
          </a:p>
        </p:txBody>
      </p:sp>
    </p:spTree>
    <p:extLst>
      <p:ext uri="{BB962C8B-B14F-4D97-AF65-F5344CB8AC3E}">
        <p14:creationId xmlns:p14="http://schemas.microsoft.com/office/powerpoint/2010/main" val="244837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F259EDDB-2AF9-4442-9E8A-2939E22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D074F7D4-C727-460A-B70A-B5DE8DE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8A2B3C03-8E2E-4879-A12E-023FC8C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5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999741f884f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3-role">
            <a:extLst xmlns:a="http://schemas.openxmlformats.org/drawingml/2006/main">
              <a:ext uri="{FF2B5EF4-FFF2-40B4-BE49-F238E27FC236}">
                <a16:creationId xmlns:a16="http://schemas.microsoft.com/office/drawing/2014/main" id="{1A968402-FC0B-4716-827B-497C5EFC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109" name="academic-3-title">
            <a:extLst xmlns:a="http://schemas.openxmlformats.org/drawingml/2006/main">
              <a:ext uri="{FF2B5EF4-FFF2-40B4-BE49-F238E27FC236}">
                <a16:creationId xmlns:a16="http://schemas.microsoft.com/office/drawing/2014/main" id="{AB2FEBA8-B5C0-4ADD-AC58-D0FC16D9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个性化学习，让每次作答形成能力画像</a:t>
            </a:r>
          </a:p>
        </p:txBody>
      </p:sp>
      <p:sp>
        <p:nvSpPr>
          <p:cNvPr id="110" name="academic-3-page">
            <a:extLst xmlns:a="http://schemas.openxmlformats.org/drawingml/2006/main">
              <a:ext uri="{FF2B5EF4-FFF2-40B4-BE49-F238E27FC236}">
                <a16:creationId xmlns:a16="http://schemas.microsoft.com/office/drawing/2014/main" id="{17346B33-BF8E-4404-8800-9E7640C7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1" name="academic-learning-center-label">
            <a:extLst xmlns:a="http://schemas.openxmlformats.org/drawingml/2006/main">
              <a:ext uri="{FF2B5EF4-FFF2-40B4-BE49-F238E27FC236}">
                <a16:creationId xmlns:a16="http://schemas.microsoft.com/office/drawing/2014/main" id="{1678F71A-002F-4174-9AB4-98832553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学习中心</a:t>
            </a:r>
          </a:p>
        </p:txBody>
      </p:sp>
      <p:sp>
        <p:nvSpPr>
          <p:cNvPr id="112" name="academic-learning-center-shadow">
            <a:extLst xmlns:a="http://schemas.openxmlformats.org/drawingml/2006/main">
              <a:ext uri="{FF2B5EF4-FFF2-40B4-BE49-F238E27FC236}">
                <a16:creationId xmlns:a16="http://schemas.microsoft.com/office/drawing/2014/main" id="{08D77F99-2D4A-4F38-8900-54F24591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5334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3" name="academic-learning-center-frame">
            <a:extLst xmlns:a="http://schemas.openxmlformats.org/drawingml/2006/main">
              <a:ext uri="{FF2B5EF4-FFF2-40B4-BE49-F238E27FC236}">
                <a16:creationId xmlns:a16="http://schemas.microsoft.com/office/drawing/2014/main" id="{EA91413D-710A-4E64-B6D5-094C2F0E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90750"/>
            <a:ext cx="5372100" cy="3038475"/>
          </a:xfrm>
          <a:prstGeom xmlns:a="http://schemas.openxmlformats.org/drawingml/2006/main" prst="roundRect">
            <a:avLst>
              <a:gd name="adj" fmla="val 25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a2ffb2fa5488a"/>
          <a:stretch xmlns:a="http://schemas.openxmlformats.org/drawingml/2006/main"/>
        </p:blipFill>
        <p:spPr>
          <a:xfrm xmlns:a="http://schemas.openxmlformats.org/drawingml/2006/main">
            <a:off x="523875" y="2209800"/>
            <a:ext cx="5334000" cy="3000375"/>
          </a:xfrm>
          <a:prstGeom xmlns:a="http://schemas.openxmlformats.org/drawingml/2006/main" prst="roundRect">
            <a:avLst>
              <a:gd name="adj" fmla="val 2540"/>
            </a:avLst>
          </a:prstGeom>
        </p:spPr>
      </p:pic>
      <p:sp>
        <p:nvSpPr>
          <p:cNvPr id="115" name="academic-learning-center-copy">
            <a:extLst xmlns:a="http://schemas.openxmlformats.org/drawingml/2006/main">
              <a:ext uri="{FF2B5EF4-FFF2-40B4-BE49-F238E27FC236}">
                <a16:creationId xmlns:a16="http://schemas.microsoft.com/office/drawing/2014/main" id="{73ED3A74-85D6-4F24-9693-D75EE672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483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任务、测验结果和掌握情况集中在一个入口。</a:t>
            </a:r>
          </a:p>
        </p:txBody>
      </p:sp>
      <p:sp>
        <p:nvSpPr>
          <p:cNvPr id="116" name="academic-quiz-label">
            <a:extLst xmlns:a="http://schemas.openxmlformats.org/drawingml/2006/main">
              <a:ext uri="{FF2B5EF4-FFF2-40B4-BE49-F238E27FC236}">
                <a16:creationId xmlns:a16="http://schemas.microsoft.com/office/drawing/2014/main" id="{08552CD2-AAE3-4A6F-B2B7-3E8309C2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开始测验</a:t>
            </a:r>
          </a:p>
        </p:txBody>
      </p:sp>
      <p:sp>
        <p:nvSpPr>
          <p:cNvPr id="117" name="academic-quiz-shadow">
            <a:extLst xmlns:a="http://schemas.openxmlformats.org/drawingml/2006/main">
              <a:ext uri="{FF2B5EF4-FFF2-40B4-BE49-F238E27FC236}">
                <a16:creationId xmlns:a16="http://schemas.microsoft.com/office/drawing/2014/main" id="{4A0F8962-8295-42B5-B02F-9B7B5867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76475"/>
            <a:ext cx="5381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8" name="academic-quiz-frame">
            <a:extLst xmlns:a="http://schemas.openxmlformats.org/drawingml/2006/main">
              <a:ext uri="{FF2B5EF4-FFF2-40B4-BE49-F238E27FC236}">
                <a16:creationId xmlns:a16="http://schemas.microsoft.com/office/drawing/2014/main" id="{7A38E339-1A25-4869-9B62-7CDA2D5F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5419725" cy="1990725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0f04ae07e46c5"/>
          <a:stretch xmlns:a="http://schemas.openxmlformats.org/drawingml/2006/main"/>
        </p:blipFill>
        <p:spPr>
          <a:xfrm xmlns:a="http://schemas.openxmlformats.org/drawingml/2006/main">
            <a:off x="7146396" y="2209800"/>
            <a:ext cx="3471333" cy="1952625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120" name="academic-judgement-label">
            <a:extLst xmlns:a="http://schemas.openxmlformats.org/drawingml/2006/main">
              <a:ext uri="{FF2B5EF4-FFF2-40B4-BE49-F238E27FC236}">
                <a16:creationId xmlns:a16="http://schemas.microsoft.com/office/drawing/2014/main" id="{1EA096BC-2DE3-4572-96DA-99F1828A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即时判题</a:t>
            </a:r>
          </a:p>
        </p:txBody>
      </p:sp>
      <p:sp>
        <p:nvSpPr>
          <p:cNvPr id="121" name="academic-judgement-shadow">
            <a:extLst xmlns:a="http://schemas.openxmlformats.org/drawingml/2006/main">
              <a:ext uri="{FF2B5EF4-FFF2-40B4-BE49-F238E27FC236}">
                <a16:creationId xmlns:a16="http://schemas.microsoft.com/office/drawing/2014/main" id="{5D919803-7EA2-45F0-81A1-7F79224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62475"/>
            <a:ext cx="2571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22" name="academic-judgement-frame">
            <a:extLst xmlns:a="http://schemas.openxmlformats.org/drawingml/2006/main">
              <a:ext uri="{FF2B5EF4-FFF2-40B4-BE49-F238E27FC236}">
                <a16:creationId xmlns:a16="http://schemas.microsoft.com/office/drawing/2014/main" id="{84B2CA9E-91B1-4DE7-AE56-8CC55C45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95800"/>
            <a:ext cx="26098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39e7d4bd84cae"/>
          <a:stretch xmlns:a="http://schemas.openxmlformats.org/drawingml/2006/main"/>
        </p:blipFill>
        <p:spPr>
          <a:xfrm xmlns:a="http://schemas.openxmlformats.org/drawingml/2006/main">
            <a:off x="6224058" y="4514850"/>
            <a:ext cx="2506133" cy="14097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124" name="academic-wrongbook-label">
            <a:extLst xmlns:a="http://schemas.openxmlformats.org/drawingml/2006/main">
              <a:ext uri="{FF2B5EF4-FFF2-40B4-BE49-F238E27FC236}">
                <a16:creationId xmlns:a16="http://schemas.microsoft.com/office/drawing/2014/main" id="{C53D1CCB-975A-4405-875E-241AC498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48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错题沉淀</a:t>
            </a:r>
          </a:p>
        </p:txBody>
      </p:sp>
      <p:sp>
        <p:nvSpPr>
          <p:cNvPr id="125" name="academic-wrongbook-shadow">
            <a:extLst xmlns:a="http://schemas.openxmlformats.org/drawingml/2006/main">
              <a:ext uri="{FF2B5EF4-FFF2-40B4-BE49-F238E27FC236}">
                <a16:creationId xmlns:a16="http://schemas.microsoft.com/office/drawing/2014/main" id="{1F36881A-0561-4F03-B1D3-6DAD4DD4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62475"/>
            <a:ext cx="2571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26" name="academic-wrongbook-frame">
            <a:extLst xmlns:a="http://schemas.openxmlformats.org/drawingml/2006/main">
              <a:ext uri="{FF2B5EF4-FFF2-40B4-BE49-F238E27FC236}">
                <a16:creationId xmlns:a16="http://schemas.microsoft.com/office/drawing/2014/main" id="{ED3EC06A-3AF7-4B03-8CDF-D7598C86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95800"/>
            <a:ext cx="26098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6b72f06bd4da1"/>
          <a:stretch xmlns:a="http://schemas.openxmlformats.org/drawingml/2006/main"/>
        </p:blipFill>
        <p:spPr>
          <a:xfrm xmlns:a="http://schemas.openxmlformats.org/drawingml/2006/main">
            <a:off x="9033933" y="4514850"/>
            <a:ext cx="2506133" cy="14097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</p:spTree>
    <p:extLst>
      <p:ext uri="{BB962C8B-B14F-4D97-AF65-F5344CB8AC3E}">
        <p14:creationId xmlns:p14="http://schemas.microsoft.com/office/powerpoint/2010/main" val="244837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F259EDDB-2AF9-4442-9E8A-2939E22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D074F7D4-C727-460A-B70A-B5DE8DE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8A2B3C03-8E2E-4879-A12E-023FC8C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6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d116ecd2e40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4-role">
            <a:extLst xmlns:a="http://schemas.openxmlformats.org/drawingml/2006/main">
              <a:ext uri="{FF2B5EF4-FFF2-40B4-BE49-F238E27FC236}">
                <a16:creationId xmlns:a16="http://schemas.microsoft.com/office/drawing/2014/main" id="{1EA5B9BD-ECD4-4426-A5EE-AA6FAF5E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109" name="academic-4-title">
            <a:extLst xmlns:a="http://schemas.openxmlformats.org/drawingml/2006/main">
              <a:ext uri="{FF2B5EF4-FFF2-40B4-BE49-F238E27FC236}">
                <a16:creationId xmlns:a16="http://schemas.microsoft.com/office/drawing/2014/main" id="{0A57568E-223E-45DE-9020-83986C66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作业与反馈，让学习问题及时闭环</a:t>
            </a:r>
          </a:p>
        </p:txBody>
      </p:sp>
      <p:sp>
        <p:nvSpPr>
          <p:cNvPr id="110" name="academic-4-page">
            <a:extLst xmlns:a="http://schemas.openxmlformats.org/drawingml/2006/main">
              <a:ext uri="{FF2B5EF4-FFF2-40B4-BE49-F238E27FC236}">
                <a16:creationId xmlns:a16="http://schemas.microsoft.com/office/drawing/2014/main" id="{DE71545A-953D-4A66-983A-2E5AB435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1" name="academic-student-homework-label">
            <a:extLst xmlns:a="http://schemas.openxmlformats.org/drawingml/2006/main">
              <a:ext uri="{FF2B5EF4-FFF2-40B4-BE49-F238E27FC236}">
                <a16:creationId xmlns:a16="http://schemas.microsoft.com/office/drawing/2014/main" id="{C2A586B9-0FF8-4126-887A-9C8D64FB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查看任务</a:t>
            </a:r>
          </a:p>
        </p:txBody>
      </p:sp>
      <p:sp>
        <p:nvSpPr>
          <p:cNvPr id="112" name="academic-student-homework-shadow">
            <a:extLst xmlns:a="http://schemas.openxmlformats.org/drawingml/2006/main">
              <a:ext uri="{FF2B5EF4-FFF2-40B4-BE49-F238E27FC236}">
                <a16:creationId xmlns:a16="http://schemas.microsoft.com/office/drawing/2014/main" id="{FB72B754-A3D8-4F47-B650-495DC5E9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95525"/>
            <a:ext cx="5334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3" name="academic-student-homework-frame">
            <a:extLst xmlns:a="http://schemas.openxmlformats.org/drawingml/2006/main">
              <a:ext uri="{FF2B5EF4-FFF2-40B4-BE49-F238E27FC236}">
                <a16:creationId xmlns:a16="http://schemas.microsoft.com/office/drawing/2014/main" id="{499F9792-5819-44BF-BD10-CAA42667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209800"/>
            <a:ext cx="5372100" cy="3038475"/>
          </a:xfrm>
          <a:prstGeom xmlns:a="http://schemas.openxmlformats.org/drawingml/2006/main" prst="roundRect">
            <a:avLst>
              <a:gd name="adj" fmla="val 25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1e91252fd4796"/>
          <a:stretch xmlns:a="http://schemas.openxmlformats.org/drawingml/2006/main"/>
        </p:blipFill>
        <p:spPr>
          <a:xfrm xmlns:a="http://schemas.openxmlformats.org/drawingml/2006/main">
            <a:off x="523875" y="2228850"/>
            <a:ext cx="5334000" cy="3000375"/>
          </a:xfrm>
          <a:prstGeom xmlns:a="http://schemas.openxmlformats.org/drawingml/2006/main" prst="roundRect">
            <a:avLst>
              <a:gd name="adj" fmla="val 2540"/>
            </a:avLst>
          </a:prstGeom>
        </p:spPr>
      </p:pic>
      <p:sp>
        <p:nvSpPr>
          <p:cNvPr id="115" name="academic-ai-feedback-label">
            <a:extLst xmlns:a="http://schemas.openxmlformats.org/drawingml/2006/main">
              <a:ext uri="{FF2B5EF4-FFF2-40B4-BE49-F238E27FC236}">
                <a16:creationId xmlns:a16="http://schemas.microsoft.com/office/drawing/2014/main" id="{F00AF5AA-03FE-4FB4-A39D-030C735E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获得反馈</a:t>
            </a:r>
          </a:p>
        </p:txBody>
      </p:sp>
      <p:sp>
        <p:nvSpPr>
          <p:cNvPr id="116" name="academic-ai-feedback-shadow">
            <a:extLst xmlns:a="http://schemas.openxmlformats.org/drawingml/2006/main">
              <a:ext uri="{FF2B5EF4-FFF2-40B4-BE49-F238E27FC236}">
                <a16:creationId xmlns:a16="http://schemas.microsoft.com/office/drawing/2014/main" id="{D4B93395-F254-4818-A755-BFBC6B2B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95525"/>
            <a:ext cx="5381625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7" name="academic-ai-feedback-frame">
            <a:extLst xmlns:a="http://schemas.openxmlformats.org/drawingml/2006/main">
              <a:ext uri="{FF2B5EF4-FFF2-40B4-BE49-F238E27FC236}">
                <a16:creationId xmlns:a16="http://schemas.microsoft.com/office/drawing/2014/main" id="{6FAD5CFB-E986-4BF3-9B06-BC5981B0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541972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3ca40fe8a4d35"/>
          <a:stretch xmlns:a="http://schemas.openxmlformats.org/drawingml/2006/main"/>
        </p:blipFill>
        <p:spPr>
          <a:xfrm xmlns:a="http://schemas.openxmlformats.org/drawingml/2006/main">
            <a:off x="6191250" y="2410718"/>
            <a:ext cx="5381625" cy="3027164"/>
          </a:xfrm>
          <a:prstGeom xmlns:a="http://schemas.openxmlformats.org/drawingml/2006/main" prst="roundRect">
            <a:avLst>
              <a:gd name="adj" fmla="val 2247"/>
            </a:avLst>
          </a:prstGeom>
        </p:spPr>
      </p:pic>
      <p:sp>
        <p:nvSpPr>
          <p:cNvPr id="119" name="academic-assignment-closing">
            <a:extLst xmlns:a="http://schemas.openxmlformats.org/drawingml/2006/main">
              <a:ext uri="{FF2B5EF4-FFF2-40B4-BE49-F238E27FC236}">
                <a16:creationId xmlns:a16="http://schemas.microsoft.com/office/drawing/2014/main" id="{F52D5240-B992-4725-86DB-5862D136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38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批改意见回到具体题目。学生能看到哪里出错，也能找到下一步的修改方向。</a:t>
            </a:r>
          </a:p>
        </p:txBody>
      </p:sp>
    </p:spTree>
    <p:extLst>
      <p:ext uri="{BB962C8B-B14F-4D97-AF65-F5344CB8AC3E}">
        <p14:creationId xmlns:p14="http://schemas.microsoft.com/office/powerpoint/2010/main" val="244837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F259EDDB-2AF9-4442-9E8A-2939E22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D074F7D4-C727-460A-B70A-B5DE8DE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8A2B3C03-8E2E-4879-A12E-023FC8C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6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14fce25e84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5-role">
            <a:extLst xmlns:a="http://schemas.openxmlformats.org/drawingml/2006/main">
              <a:ext uri="{FF2B5EF4-FFF2-40B4-BE49-F238E27FC236}">
                <a16:creationId xmlns:a16="http://schemas.microsoft.com/office/drawing/2014/main" id="{6C0DFF9C-5A2D-44FB-8920-7D3EAF16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教师端</a:t>
            </a:r>
          </a:p>
        </p:txBody>
      </p:sp>
      <p:sp>
        <p:nvSpPr>
          <p:cNvPr id="109" name="academic-5-title">
            <a:extLst xmlns:a="http://schemas.openxmlformats.org/drawingml/2006/main">
              <a:ext uri="{FF2B5EF4-FFF2-40B4-BE49-F238E27FC236}">
                <a16:creationId xmlns:a16="http://schemas.microsoft.com/office/drawing/2014/main" id="{3BB56D80-05E2-49FF-BBAC-32115CD0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课程知识库，让教学资料持续沉淀</a:t>
            </a:r>
          </a:p>
        </p:txBody>
      </p:sp>
      <p:sp>
        <p:nvSpPr>
          <p:cNvPr id="110" name="academic-5-page">
            <a:extLst xmlns:a="http://schemas.openxmlformats.org/drawingml/2006/main">
              <a:ext uri="{FF2B5EF4-FFF2-40B4-BE49-F238E27FC236}">
                <a16:creationId xmlns:a16="http://schemas.microsoft.com/office/drawing/2014/main" id="{6C86FD90-8BD2-42D3-9FD4-FCEBFE61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11" name="academic-kb-label">
            <a:extLst xmlns:a="http://schemas.openxmlformats.org/drawingml/2006/main">
              <a:ext uri="{FF2B5EF4-FFF2-40B4-BE49-F238E27FC236}">
                <a16:creationId xmlns:a16="http://schemas.microsoft.com/office/drawing/2014/main" id="{35911066-4F06-48AD-AC26-FBD17BC5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课程资料管理</a:t>
            </a:r>
          </a:p>
        </p:txBody>
      </p:sp>
      <p:sp>
        <p:nvSpPr>
          <p:cNvPr id="112" name="academic-kb-hero-shadow">
            <a:extLst xmlns:a="http://schemas.openxmlformats.org/drawingml/2006/main">
              <a:ext uri="{FF2B5EF4-FFF2-40B4-BE49-F238E27FC236}">
                <a16:creationId xmlns:a16="http://schemas.microsoft.com/office/drawing/2014/main" id="{D53F311E-7EBA-48F3-81D2-541D2BC5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7143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3" name="academic-kb-hero-frame">
            <a:extLst xmlns:a="http://schemas.openxmlformats.org/drawingml/2006/main">
              <a:ext uri="{FF2B5EF4-FFF2-40B4-BE49-F238E27FC236}">
                <a16:creationId xmlns:a16="http://schemas.microsoft.com/office/drawing/2014/main" id="{62CC0DFB-BA95-4595-A3D4-75E634FE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90750"/>
            <a:ext cx="71818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85ec8a2da4dd1"/>
          <a:stretch xmlns:a="http://schemas.openxmlformats.org/drawingml/2006/main"/>
        </p:blipFill>
        <p:spPr>
          <a:xfrm xmlns:a="http://schemas.openxmlformats.org/drawingml/2006/main">
            <a:off x="624417" y="2209800"/>
            <a:ext cx="6942667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115" name="academic-roster-label">
            <a:extLst xmlns:a="http://schemas.openxmlformats.org/drawingml/2006/main">
              <a:ext uri="{FF2B5EF4-FFF2-40B4-BE49-F238E27FC236}">
                <a16:creationId xmlns:a16="http://schemas.microsoft.com/office/drawing/2014/main" id="{CF0CF7EF-0C7E-41FB-BF24-E24F159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14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课程成员</a:t>
            </a:r>
          </a:p>
        </p:txBody>
      </p:sp>
      <p:sp>
        <p:nvSpPr>
          <p:cNvPr id="116" name="academic-roster-shadow">
            <a:extLst xmlns:a="http://schemas.openxmlformats.org/drawingml/2006/main">
              <a:ext uri="{FF2B5EF4-FFF2-40B4-BE49-F238E27FC236}">
                <a16:creationId xmlns:a16="http://schemas.microsoft.com/office/drawing/2014/main" id="{6B653B66-7467-4826-A6BF-77956887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76500"/>
            <a:ext cx="35242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7" name="academic-roster-frame">
            <a:extLst xmlns:a="http://schemas.openxmlformats.org/drawingml/2006/main">
              <a:ext uri="{FF2B5EF4-FFF2-40B4-BE49-F238E27FC236}">
                <a16:creationId xmlns:a16="http://schemas.microsoft.com/office/drawing/2014/main" id="{030B7DDB-C44D-48A9-8CBF-DCBF44DE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00300"/>
            <a:ext cx="35623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91a1e19414540"/>
          <a:stretch xmlns:a="http://schemas.openxmlformats.org/drawingml/2006/main"/>
        </p:blipFill>
        <p:spPr>
          <a:xfrm xmlns:a="http://schemas.openxmlformats.org/drawingml/2006/main">
            <a:off x="8048625" y="2533055"/>
            <a:ext cx="3524250" cy="1982391"/>
          </a:xfrm>
          <a:prstGeom xmlns:a="http://schemas.openxmlformats.org/drawingml/2006/main" prst="roundRect">
            <a:avLst>
              <a:gd name="adj" fmla="val 3448"/>
            </a:avLst>
          </a:prstGeom>
        </p:spPr>
      </p:pic>
      <p:sp>
        <p:nvSpPr>
          <p:cNvPr id="119" name="academic-kb-copy">
            <a:extLst xmlns:a="http://schemas.openxmlformats.org/drawingml/2006/main">
              <a:ext uri="{FF2B5EF4-FFF2-40B4-BE49-F238E27FC236}">
                <a16:creationId xmlns:a16="http://schemas.microsoft.com/office/drawing/2014/main" id="{EA3837BD-5754-49C7-AE11-0A91CE73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10150"/>
            <a:ext cx="3524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教师上传资料后，系统完成解析和整理；学生名单也在课程入口维护。</a:t>
            </a:r>
          </a:p>
        </p:txBody>
      </p:sp>
    </p:spTree>
    <p:extLst>
      <p:ext uri="{BB962C8B-B14F-4D97-AF65-F5344CB8AC3E}">
        <p14:creationId xmlns:p14="http://schemas.microsoft.com/office/powerpoint/2010/main" val="244837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F259EDDB-2AF9-4442-9E8A-2939E22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D074F7D4-C727-460A-B70A-B5DE8DE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8A2B3C03-8E2E-4879-A12E-023FC8C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1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c053b817b49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6-role">
            <a:extLst xmlns:a="http://schemas.openxmlformats.org/drawingml/2006/main">
              <a:ext uri="{FF2B5EF4-FFF2-40B4-BE49-F238E27FC236}">
                <a16:creationId xmlns:a16="http://schemas.microsoft.com/office/drawing/2014/main" id="{A5AF3440-98FF-49F4-86D1-0F997FEB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教师端</a:t>
            </a:r>
          </a:p>
        </p:txBody>
      </p:sp>
      <p:sp>
        <p:nvSpPr>
          <p:cNvPr id="109" name="academic-6-title">
            <a:extLst xmlns:a="http://schemas.openxmlformats.org/drawingml/2006/main">
              <a:ext uri="{FF2B5EF4-FFF2-40B4-BE49-F238E27FC236}">
                <a16:creationId xmlns:a16="http://schemas.microsoft.com/office/drawing/2014/main" id="{0B1CE046-D5DE-4ACF-8257-0A771B52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作业管理闭环，让教师更高效地布置与批改</a:t>
            </a:r>
          </a:p>
        </p:txBody>
      </p:sp>
      <p:sp>
        <p:nvSpPr>
          <p:cNvPr id="110" name="academic-6-page">
            <a:extLst xmlns:a="http://schemas.openxmlformats.org/drawingml/2006/main">
              <a:ext uri="{FF2B5EF4-FFF2-40B4-BE49-F238E27FC236}">
                <a16:creationId xmlns:a16="http://schemas.microsoft.com/office/drawing/2014/main" id="{5161F481-0408-4CFF-9F91-3A251BFB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11" name="academic-homework-step-one-label">
            <a:extLst xmlns:a="http://schemas.openxmlformats.org/drawingml/2006/main">
              <a:ext uri="{FF2B5EF4-FFF2-40B4-BE49-F238E27FC236}">
                <a16:creationId xmlns:a16="http://schemas.microsoft.com/office/drawing/2014/main" id="{DF3CE12F-50F3-47E3-89F0-623CD7E5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01  创建任务</a:t>
            </a:r>
          </a:p>
        </p:txBody>
      </p:sp>
      <p:sp>
        <p:nvSpPr>
          <p:cNvPr id="112" name="academic-homework-create-shadow">
            <a:extLst xmlns:a="http://schemas.openxmlformats.org/drawingml/2006/main">
              <a:ext uri="{FF2B5EF4-FFF2-40B4-BE49-F238E27FC236}">
                <a16:creationId xmlns:a16="http://schemas.microsoft.com/office/drawing/2014/main" id="{10B0F0AD-D190-46F8-B0FC-5204F1E8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3238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3" name="academic-homework-create-frame">
            <a:extLst xmlns:a="http://schemas.openxmlformats.org/drawingml/2006/main">
              <a:ext uri="{FF2B5EF4-FFF2-40B4-BE49-F238E27FC236}">
                <a16:creationId xmlns:a16="http://schemas.microsoft.com/office/drawing/2014/main" id="{EFCE0C7E-23CE-4461-A899-F0DD7DA2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286000"/>
            <a:ext cx="3276600" cy="2276475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88257e6ae4c73"/>
          <a:stretch xmlns:a="http://schemas.openxmlformats.org/drawingml/2006/main"/>
        </p:blipFill>
        <p:spPr>
          <a:xfrm xmlns:a="http://schemas.openxmlformats.org/drawingml/2006/main">
            <a:off x="523875" y="2513409"/>
            <a:ext cx="3238500" cy="1821656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115" name="academic-homework-step-two-label">
            <a:extLst xmlns:a="http://schemas.openxmlformats.org/drawingml/2006/main">
              <a:ext uri="{FF2B5EF4-FFF2-40B4-BE49-F238E27FC236}">
                <a16:creationId xmlns:a16="http://schemas.microsoft.com/office/drawing/2014/main" id="{D0AF7BC3-C469-4D8A-ADF0-B1D188BC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193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02  查看发布结果</a:t>
            </a:r>
          </a:p>
        </p:txBody>
      </p:sp>
      <p:sp>
        <p:nvSpPr>
          <p:cNvPr id="116" name="academic-homework-published-shadow">
            <a:extLst xmlns:a="http://schemas.openxmlformats.org/drawingml/2006/main">
              <a:ext uri="{FF2B5EF4-FFF2-40B4-BE49-F238E27FC236}">
                <a16:creationId xmlns:a16="http://schemas.microsoft.com/office/drawing/2014/main" id="{8F980BE5-600D-4F5C-B60B-AA2BAC3E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90800"/>
            <a:ext cx="3238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7" name="academic-homework-published-frame">
            <a:extLst xmlns:a="http://schemas.openxmlformats.org/drawingml/2006/main">
              <a:ext uri="{FF2B5EF4-FFF2-40B4-BE49-F238E27FC236}">
                <a16:creationId xmlns:a16="http://schemas.microsoft.com/office/drawing/2014/main" id="{7FC498C4-4FA2-4654-B5F8-DAF36CDB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24125"/>
            <a:ext cx="3276600" cy="2276475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9b1fe97ab4415"/>
          <a:stretch xmlns:a="http://schemas.openxmlformats.org/drawingml/2006/main"/>
        </p:blipFill>
        <p:spPr>
          <a:xfrm xmlns:a="http://schemas.openxmlformats.org/drawingml/2006/main">
            <a:off x="4095750" y="2751534"/>
            <a:ext cx="3238500" cy="1821656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119" name="academic-homework-step-three-label">
            <a:extLst xmlns:a="http://schemas.openxmlformats.org/drawingml/2006/main">
              <a:ext uri="{FF2B5EF4-FFF2-40B4-BE49-F238E27FC236}">
                <a16:creationId xmlns:a16="http://schemas.microsoft.com/office/drawing/2014/main" id="{1B370100-9522-44B8-A279-1363C0DB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85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03  查看提交并批改</a:t>
            </a:r>
          </a:p>
        </p:txBody>
      </p:sp>
      <p:sp>
        <p:nvSpPr>
          <p:cNvPr id="120" name="academic-homework-review-shadow">
            <a:extLst xmlns:a="http://schemas.openxmlformats.org/drawingml/2006/main">
              <a:ext uri="{FF2B5EF4-FFF2-40B4-BE49-F238E27FC236}">
                <a16:creationId xmlns:a16="http://schemas.microsoft.com/office/drawing/2014/main" id="{0179FD7B-FA80-4C9A-B165-CC725411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266950"/>
            <a:ext cx="3905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21" name="academic-homework-review-frame">
            <a:extLst xmlns:a="http://schemas.openxmlformats.org/drawingml/2006/main">
              <a:ext uri="{FF2B5EF4-FFF2-40B4-BE49-F238E27FC236}">
                <a16:creationId xmlns:a16="http://schemas.microsoft.com/office/drawing/2014/main" id="{EB7AA143-148F-4B65-8932-0994E465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190750"/>
            <a:ext cx="394335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7046caf874850"/>
          <a:stretch xmlns:a="http://schemas.openxmlformats.org/drawingml/2006/main"/>
        </p:blipFill>
        <p:spPr>
          <a:xfrm xmlns:a="http://schemas.openxmlformats.org/drawingml/2006/main">
            <a:off x="7667625" y="2540198"/>
            <a:ext cx="3905250" cy="2196703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23" name="academic-homework-copy">
            <a:extLst xmlns:a="http://schemas.openxmlformats.org/drawingml/2006/main">
              <a:ext uri="{FF2B5EF4-FFF2-40B4-BE49-F238E27FC236}">
                <a16:creationId xmlns:a16="http://schemas.microsoft.com/office/drawing/2014/main" id="{F2CFEA6D-7546-483A-8145-BBF47200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布置、提交查看和批改在同一条工作线上，教师可以快速找到未提交和需要复核的作业。</a:t>
            </a:r>
          </a:p>
        </p:txBody>
      </p:sp>
    </p:spTree>
    <p:extLst>
      <p:ext uri="{BB962C8B-B14F-4D97-AF65-F5344CB8AC3E}">
        <p14:creationId xmlns:p14="http://schemas.microsoft.com/office/powerpoint/2010/main" val="244837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F259EDDB-2AF9-4442-9E8A-2939E22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D074F7D4-C727-460A-B70A-B5DE8DE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8A2B3C03-8E2E-4879-A12E-023FC8C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6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83e8fa70445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7-role">
            <a:extLst xmlns:a="http://schemas.openxmlformats.org/drawingml/2006/main">
              <a:ext uri="{FF2B5EF4-FFF2-40B4-BE49-F238E27FC236}">
                <a16:creationId xmlns:a16="http://schemas.microsoft.com/office/drawing/2014/main" id="{1C040B75-8FC9-4A15-B427-61BE8665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教师端</a:t>
            </a:r>
          </a:p>
        </p:txBody>
      </p:sp>
      <p:sp>
        <p:nvSpPr>
          <p:cNvPr id="109" name="academic-7-title">
            <a:extLst xmlns:a="http://schemas.openxmlformats.org/drawingml/2006/main">
              <a:ext uri="{FF2B5EF4-FFF2-40B4-BE49-F238E27FC236}">
                <a16:creationId xmlns:a16="http://schemas.microsoft.com/office/drawing/2014/main" id="{FFEAD083-B2B2-462C-A25C-BC561C65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学情监测与知识图谱，让薄弱环节可视化</a:t>
            </a:r>
          </a:p>
        </p:txBody>
      </p:sp>
      <p:sp>
        <p:nvSpPr>
          <p:cNvPr id="110" name="academic-7-page">
            <a:extLst xmlns:a="http://schemas.openxmlformats.org/drawingml/2006/main">
              <a:ext uri="{FF2B5EF4-FFF2-40B4-BE49-F238E27FC236}">
                <a16:creationId xmlns:a16="http://schemas.microsoft.com/office/drawing/2014/main" id="{8D01A4F5-8594-46CE-B12F-9EF4FAEB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11" name="academic-monitor-label">
            <a:extLst xmlns:a="http://schemas.openxmlformats.org/drawingml/2006/main">
              <a:ext uri="{FF2B5EF4-FFF2-40B4-BE49-F238E27FC236}">
                <a16:creationId xmlns:a16="http://schemas.microsoft.com/office/drawing/2014/main" id="{518485F7-2C53-457E-A025-A2F839F5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43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学习状态</a:t>
            </a:r>
          </a:p>
        </p:txBody>
      </p:sp>
      <p:sp>
        <p:nvSpPr>
          <p:cNvPr id="112" name="academic-monitor-shadow">
            <a:extLst xmlns:a="http://schemas.openxmlformats.org/drawingml/2006/main">
              <a:ext uri="{FF2B5EF4-FFF2-40B4-BE49-F238E27FC236}">
                <a16:creationId xmlns:a16="http://schemas.microsoft.com/office/drawing/2014/main" id="{BBF7D724-E5DA-4F21-BD09-C75409CD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95525"/>
            <a:ext cx="6858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3" name="academic-monitor-frame">
            <a:extLst xmlns:a="http://schemas.openxmlformats.org/drawingml/2006/main">
              <a:ext uri="{FF2B5EF4-FFF2-40B4-BE49-F238E27FC236}">
                <a16:creationId xmlns:a16="http://schemas.microsoft.com/office/drawing/2014/main" id="{4237B95E-BF97-47A2-8C38-B5722506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209800"/>
            <a:ext cx="6896100" cy="3895725"/>
          </a:xfrm>
          <a:prstGeom xmlns:a="http://schemas.openxmlformats.org/drawingml/2006/main" prst="roundRect">
            <a:avLst>
              <a:gd name="adj" fmla="val 19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f35787e7c4a3b"/>
          <a:stretch xmlns:a="http://schemas.openxmlformats.org/drawingml/2006/main"/>
        </p:blipFill>
        <p:spPr>
          <a:xfrm xmlns:a="http://schemas.openxmlformats.org/drawingml/2006/main">
            <a:off x="523875" y="2228850"/>
            <a:ext cx="6858000" cy="3857625"/>
          </a:xfrm>
          <a:prstGeom xmlns:a="http://schemas.openxmlformats.org/drawingml/2006/main" prst="roundRect">
            <a:avLst>
              <a:gd name="adj" fmla="val 1975"/>
            </a:avLst>
          </a:prstGeom>
        </p:spPr>
      </p:pic>
      <p:sp>
        <p:nvSpPr>
          <p:cNvPr id="115" name="academic-graph-label">
            <a:extLst xmlns:a="http://schemas.openxmlformats.org/drawingml/2006/main">
              <a:ext uri="{FF2B5EF4-FFF2-40B4-BE49-F238E27FC236}">
                <a16:creationId xmlns:a16="http://schemas.microsoft.com/office/drawing/2014/main" id="{E9575525-C8AA-4037-B880-44E4B5FE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知识关联</a:t>
            </a:r>
          </a:p>
        </p:txBody>
      </p:sp>
      <p:sp>
        <p:nvSpPr>
          <p:cNvPr id="116" name="academic-graph-shadow">
            <a:extLst xmlns:a="http://schemas.openxmlformats.org/drawingml/2006/main">
              <a:ext uri="{FF2B5EF4-FFF2-40B4-BE49-F238E27FC236}">
                <a16:creationId xmlns:a16="http://schemas.microsoft.com/office/drawing/2014/main" id="{59E51C0A-1857-45FB-82D1-B2FBBDB2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86000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7" name="academic-graph-frame">
            <a:extLst xmlns:a="http://schemas.openxmlformats.org/drawingml/2006/main">
              <a:ext uri="{FF2B5EF4-FFF2-40B4-BE49-F238E27FC236}">
                <a16:creationId xmlns:a16="http://schemas.microsoft.com/office/drawing/2014/main" id="{E4A12560-95F2-44CA-8C1A-5CAE85A2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09800"/>
            <a:ext cx="375285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72e206d614084"/>
          <a:stretch xmlns:a="http://schemas.openxmlformats.org/drawingml/2006/main"/>
        </p:blipFill>
        <p:spPr>
          <a:xfrm xmlns:a="http://schemas.openxmlformats.org/drawingml/2006/main">
            <a:off x="7810500" y="2494112"/>
            <a:ext cx="3714750" cy="2326975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19" name="academic-monitor-copy">
            <a:extLst xmlns:a="http://schemas.openxmlformats.org/drawingml/2006/main">
              <a:ext uri="{FF2B5EF4-FFF2-40B4-BE49-F238E27FC236}">
                <a16:creationId xmlns:a16="http://schemas.microsoft.com/office/drawing/2014/main" id="{F5FBDC01-AEE8-4037-8087-0B14F472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64A"/>
                </a:solidFill>
                <a:latin typeface="Microsoft YaHei"/>
                <a:ea typeface="Microsoft YaHei"/>
                <a:cs typeface="Microsoft YaHei"/>
              </a:rPr>
              <a:t>学习监测回答“谁需要关注”，知识图谱帮助判断“问题集中在哪里”。</a:t>
            </a:r>
          </a:p>
        </p:txBody>
      </p:sp>
    </p:spTree>
    <p:extLst>
      <p:ext uri="{BB962C8B-B14F-4D97-AF65-F5344CB8AC3E}">
        <p14:creationId xmlns:p14="http://schemas.microsoft.com/office/powerpoint/2010/main" val="2448377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F259EDDB-2AF9-4442-9E8A-2939E22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D074F7D4-C727-460A-B70A-B5DE8DE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8A2B3C03-8E2E-4879-A12E-023FC8C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9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e7646080c4b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8-role">
            <a:extLst xmlns:a="http://schemas.openxmlformats.org/drawingml/2006/main">
              <a:ext uri="{FF2B5EF4-FFF2-40B4-BE49-F238E27FC236}">
                <a16:creationId xmlns:a16="http://schemas.microsoft.com/office/drawing/2014/main" id="{30D76E89-D1D2-403E-B616-7F7FBBDD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管理端</a:t>
            </a:r>
          </a:p>
        </p:txBody>
      </p:sp>
      <p:sp>
        <p:nvSpPr>
          <p:cNvPr id="109" name="academic-8-title">
            <a:extLst xmlns:a="http://schemas.openxmlformats.org/drawingml/2006/main">
              <a:ext uri="{FF2B5EF4-FFF2-40B4-BE49-F238E27FC236}">
                <a16:creationId xmlns:a16="http://schemas.microsoft.com/office/drawing/2014/main" id="{DB0A5F3C-9072-4F3D-A641-53E310C4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平台运行管理，让系统使用情况清晰可控</a:t>
            </a:r>
          </a:p>
        </p:txBody>
      </p:sp>
      <p:sp>
        <p:nvSpPr>
          <p:cNvPr id="110" name="academic-8-page">
            <a:extLst xmlns:a="http://schemas.openxmlformats.org/drawingml/2006/main">
              <a:ext uri="{FF2B5EF4-FFF2-40B4-BE49-F238E27FC236}">
                <a16:creationId xmlns:a16="http://schemas.microsoft.com/office/drawing/2014/main" id="{F490728F-3F8E-481F-81F6-50F13343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11" name="academic-admin-dashboard-label">
            <a:extLst xmlns:a="http://schemas.openxmlformats.org/drawingml/2006/main">
              <a:ext uri="{FF2B5EF4-FFF2-40B4-BE49-F238E27FC236}">
                <a16:creationId xmlns:a16="http://schemas.microsoft.com/office/drawing/2014/main" id="{C1C93468-FF49-4714-8624-8DCC5508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运行数据</a:t>
            </a:r>
          </a:p>
        </p:txBody>
      </p:sp>
      <p:sp>
        <p:nvSpPr>
          <p:cNvPr id="112" name="academic-admin-dashboard-shadow">
            <a:extLst xmlns:a="http://schemas.openxmlformats.org/drawingml/2006/main">
              <a:ext uri="{FF2B5EF4-FFF2-40B4-BE49-F238E27FC236}">
                <a16:creationId xmlns:a16="http://schemas.microsoft.com/office/drawing/2014/main" id="{D0D36503-E49C-4844-BD76-03EFCB26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676275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3" name="academic-admin-dashboard-frame">
            <a:extLst xmlns:a="http://schemas.openxmlformats.org/drawingml/2006/main">
              <a:ext uri="{FF2B5EF4-FFF2-40B4-BE49-F238E27FC236}">
                <a16:creationId xmlns:a16="http://schemas.microsoft.com/office/drawing/2014/main" id="{7B00839A-8F3D-4712-9D96-AA2B9EDA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71700"/>
            <a:ext cx="6800850" cy="3895725"/>
          </a:xfrm>
          <a:prstGeom xmlns:a="http://schemas.openxmlformats.org/drawingml/2006/main" prst="roundRect">
            <a:avLst>
              <a:gd name="adj" fmla="val 19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eb0638c024687"/>
          <a:stretch xmlns:a="http://schemas.openxmlformats.org/drawingml/2006/main"/>
        </p:blipFill>
        <p:spPr>
          <a:xfrm xmlns:a="http://schemas.openxmlformats.org/drawingml/2006/main">
            <a:off x="523875" y="2217539"/>
            <a:ext cx="6762750" cy="3804047"/>
          </a:xfrm>
          <a:prstGeom xmlns:a="http://schemas.openxmlformats.org/drawingml/2006/main" prst="roundRect">
            <a:avLst>
              <a:gd name="adj" fmla="val 1975"/>
            </a:avLst>
          </a:prstGeom>
        </p:spPr>
      </p:pic>
      <p:sp>
        <p:nvSpPr>
          <p:cNvPr id="115" name="academic-admin-users-label">
            <a:extLst xmlns:a="http://schemas.openxmlformats.org/drawingml/2006/main">
              <a:ext uri="{FF2B5EF4-FFF2-40B4-BE49-F238E27FC236}">
                <a16:creationId xmlns:a16="http://schemas.microsoft.com/office/drawing/2014/main" id="{B3E01813-7984-4F4D-8956-4CEE5300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05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账号与角色</a:t>
            </a:r>
          </a:p>
        </p:txBody>
      </p:sp>
      <p:sp>
        <p:nvSpPr>
          <p:cNvPr id="116" name="academic-admin-users-shadow">
            <a:extLst xmlns:a="http://schemas.openxmlformats.org/drawingml/2006/main">
              <a:ext uri="{FF2B5EF4-FFF2-40B4-BE49-F238E27FC236}">
                <a16:creationId xmlns:a16="http://schemas.microsoft.com/office/drawing/2014/main" id="{6345EAAC-DE2D-4280-BA5A-31FD7A04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3905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7" name="academic-admin-users-frame">
            <a:extLst xmlns:a="http://schemas.openxmlformats.org/drawingml/2006/main">
              <a:ext uri="{FF2B5EF4-FFF2-40B4-BE49-F238E27FC236}">
                <a16:creationId xmlns:a16="http://schemas.microsoft.com/office/drawing/2014/main" id="{CE309FC0-2C53-4384-9D50-4B4B7CCC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171700"/>
            <a:ext cx="3943350" cy="1990725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a6cb6558543b9"/>
          <a:stretch xmlns:a="http://schemas.openxmlformats.org/drawingml/2006/main"/>
        </p:blipFill>
        <p:spPr>
          <a:xfrm xmlns:a="http://schemas.openxmlformats.org/drawingml/2006/main">
            <a:off x="7884583" y="2190750"/>
            <a:ext cx="3471333" cy="1952625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119" name="academic-admin-settings-label">
            <a:extLst xmlns:a="http://schemas.openxmlformats.org/drawingml/2006/main">
              <a:ext uri="{FF2B5EF4-FFF2-40B4-BE49-F238E27FC236}">
                <a16:creationId xmlns:a16="http://schemas.microsoft.com/office/drawing/2014/main" id="{5D354D31-B9A3-4DA8-ABAB-17985722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系统参数</a:t>
            </a:r>
          </a:p>
        </p:txBody>
      </p:sp>
      <p:sp>
        <p:nvSpPr>
          <p:cNvPr id="120" name="academic-admin-settings-shadow">
            <a:extLst xmlns:a="http://schemas.openxmlformats.org/drawingml/2006/main">
              <a:ext uri="{FF2B5EF4-FFF2-40B4-BE49-F238E27FC236}">
                <a16:creationId xmlns:a16="http://schemas.microsoft.com/office/drawing/2014/main" id="{4FAAD9EE-8EC2-475E-BE65-08C7DB61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81525"/>
            <a:ext cx="3476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21" name="academic-admin-settings-frame">
            <a:extLst xmlns:a="http://schemas.openxmlformats.org/drawingml/2006/main">
              <a:ext uri="{FF2B5EF4-FFF2-40B4-BE49-F238E27FC236}">
                <a16:creationId xmlns:a16="http://schemas.microsoft.com/office/drawing/2014/main" id="{0E81EC1C-ED5F-4964-8C1E-C77F3671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147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a3f3a032a43eb"/>
          <a:stretch xmlns:a="http://schemas.openxmlformats.org/drawingml/2006/main"/>
        </p:blipFill>
        <p:spPr>
          <a:xfrm xmlns:a="http://schemas.openxmlformats.org/drawingml/2006/main">
            <a:off x="8395229" y="4533900"/>
            <a:ext cx="2878667" cy="161925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</p:spTree>
    <p:extLst>
      <p:ext uri="{BB962C8B-B14F-4D97-AF65-F5344CB8AC3E}">
        <p14:creationId xmlns:p14="http://schemas.microsoft.com/office/powerpoint/2010/main" val="244837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F259EDDB-2AF9-4442-9E8A-2939E22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D074F7D4-C727-460A-B70A-B5DE8DE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8A2B3C03-8E2E-4879-A12E-023FC8C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2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57652c1564e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9-role">
            <a:extLst xmlns:a="http://schemas.openxmlformats.org/drawingml/2006/main">
              <a:ext uri="{FF2B5EF4-FFF2-40B4-BE49-F238E27FC236}">
                <a16:creationId xmlns:a16="http://schemas.microsoft.com/office/drawing/2014/main" id="{4E6E7A42-BF80-4709-B077-C609556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项目成果</a:t>
            </a:r>
          </a:p>
        </p:txBody>
      </p:sp>
      <p:sp>
        <p:nvSpPr>
          <p:cNvPr id="109" name="academic-9-title">
            <a:extLst xmlns:a="http://schemas.openxmlformats.org/drawingml/2006/main">
              <a:ext uri="{FF2B5EF4-FFF2-40B4-BE49-F238E27FC236}">
                <a16:creationId xmlns:a16="http://schemas.microsoft.com/office/drawing/2014/main" id="{5992C1B0-B750-4149-807D-F09E6FDC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项目已形成覆盖“学—教—管”的教学辅助平台</a:t>
            </a:r>
          </a:p>
        </p:txBody>
      </p:sp>
      <p:sp>
        <p:nvSpPr>
          <p:cNvPr id="110" name="academic-9-page">
            <a:extLst xmlns:a="http://schemas.openxmlformats.org/drawingml/2006/main">
              <a:ext uri="{FF2B5EF4-FFF2-40B4-BE49-F238E27FC236}">
                <a16:creationId xmlns:a16="http://schemas.microsoft.com/office/drawing/2014/main" id="{E1536D03-9D00-48B5-9BD2-D95642FF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A0B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11" name="academic-outcome-lead">
            <a:extLst xmlns:a="http://schemas.openxmlformats.org/drawingml/2006/main">
              <a:ext uri="{FF2B5EF4-FFF2-40B4-BE49-F238E27FC236}">
                <a16:creationId xmlns:a16="http://schemas.microsoft.com/office/drawing/2014/main" id="{FBF3AAFC-62A6-416E-9416-8C2B39A8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目前已形成一套可实际运行的教学辅助平台，学生、教师和管理员均有对应入口。</a:t>
            </a:r>
          </a:p>
        </p:txBody>
      </p:sp>
      <p:sp>
        <p:nvSpPr>
          <p:cNvPr id="112" name="academic-outcome-student-label">
            <a:extLst xmlns:a="http://schemas.openxmlformats.org/drawingml/2006/main">
              <a:ext uri="{FF2B5EF4-FFF2-40B4-BE49-F238E27FC236}">
                <a16:creationId xmlns:a16="http://schemas.microsoft.com/office/drawing/2014/main" id="{6693E166-E145-4695-83A5-4A7B5411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43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学生学习</a:t>
            </a:r>
          </a:p>
        </p:txBody>
      </p:sp>
      <p:sp>
        <p:nvSpPr>
          <p:cNvPr id="113" name="academic-outcome-student-shadow">
            <a:extLst xmlns:a="http://schemas.openxmlformats.org/drawingml/2006/main">
              <a:ext uri="{FF2B5EF4-FFF2-40B4-BE49-F238E27FC236}">
                <a16:creationId xmlns:a16="http://schemas.microsoft.com/office/drawing/2014/main" id="{D096CDE6-C205-4888-BAD6-27A0CA0B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86100"/>
            <a:ext cx="500062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4" name="academic-outcome-student-frame">
            <a:extLst xmlns:a="http://schemas.openxmlformats.org/drawingml/2006/main">
              <a:ext uri="{FF2B5EF4-FFF2-40B4-BE49-F238E27FC236}">
                <a16:creationId xmlns:a16="http://schemas.microsoft.com/office/drawing/2014/main" id="{BB758E34-56C7-4F9E-9B63-8B8C36F6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009900"/>
            <a:ext cx="5038725" cy="2657475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9ebaf23784bee"/>
          <a:stretch xmlns:a="http://schemas.openxmlformats.org/drawingml/2006/main"/>
        </p:blipFill>
        <p:spPr>
          <a:xfrm xmlns:a="http://schemas.openxmlformats.org/drawingml/2006/main">
            <a:off x="523875" y="3037671"/>
            <a:ext cx="5000625" cy="2601933"/>
          </a:xfrm>
          <a:prstGeom xmlns:a="http://schemas.openxmlformats.org/drawingml/2006/main" prst="roundRect">
            <a:avLst>
              <a:gd name="adj" fmla="val 2909"/>
            </a:avLst>
          </a:prstGeom>
        </p:spPr>
      </p:pic>
      <p:sp>
        <p:nvSpPr>
          <p:cNvPr id="116" name="academic-outcome-teacher-label">
            <a:extLst xmlns:a="http://schemas.openxmlformats.org/drawingml/2006/main">
              <a:ext uri="{FF2B5EF4-FFF2-40B4-BE49-F238E27FC236}">
                <a16:creationId xmlns:a16="http://schemas.microsoft.com/office/drawing/2014/main" id="{D0051785-7A35-4CFA-A8CC-D8E83C6A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24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教师教学</a:t>
            </a:r>
          </a:p>
        </p:txBody>
      </p:sp>
      <p:sp>
        <p:nvSpPr>
          <p:cNvPr id="117" name="academic-outcome-teacher-shadow">
            <a:extLst xmlns:a="http://schemas.openxmlformats.org/drawingml/2006/main">
              <a:ext uri="{FF2B5EF4-FFF2-40B4-BE49-F238E27FC236}">
                <a16:creationId xmlns:a16="http://schemas.microsoft.com/office/drawing/2014/main" id="{4C66A031-5439-4747-8289-87245C4F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57425"/>
            <a:ext cx="5524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18" name="academic-outcome-teacher-frame">
            <a:extLst xmlns:a="http://schemas.openxmlformats.org/drawingml/2006/main">
              <a:ext uri="{FF2B5EF4-FFF2-40B4-BE49-F238E27FC236}">
                <a16:creationId xmlns:a16="http://schemas.microsoft.com/office/drawing/2014/main" id="{8534C620-09A1-4DB7-95A6-0241DC4A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90750"/>
            <a:ext cx="5562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8974191ef48e5"/>
          <a:stretch xmlns:a="http://schemas.openxmlformats.org/drawingml/2006/main"/>
        </p:blipFill>
        <p:spPr>
          <a:xfrm xmlns:a="http://schemas.openxmlformats.org/drawingml/2006/main">
            <a:off x="6889750" y="2209800"/>
            <a:ext cx="355600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20" name="academic-outcome-admin-label">
            <a:extLst xmlns:a="http://schemas.openxmlformats.org/drawingml/2006/main">
              <a:ext uri="{FF2B5EF4-FFF2-40B4-BE49-F238E27FC236}">
                <a16:creationId xmlns:a16="http://schemas.microsoft.com/office/drawing/2014/main" id="{3C520A94-6F9C-40EA-A376-3A003DE6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平台管理</a:t>
            </a:r>
          </a:p>
        </p:txBody>
      </p:sp>
      <p:sp>
        <p:nvSpPr>
          <p:cNvPr id="121" name="academic-outcome-admin-shadow">
            <a:extLst xmlns:a="http://schemas.openxmlformats.org/drawingml/2006/main">
              <a:ext uri="{FF2B5EF4-FFF2-40B4-BE49-F238E27FC236}">
                <a16:creationId xmlns:a16="http://schemas.microsoft.com/office/drawing/2014/main" id="{27F4D22C-5331-4CEE-9830-A6ED0E6C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38675"/>
            <a:ext cx="4953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122" name="academic-outcome-admin-frame">
            <a:extLst xmlns:a="http://schemas.openxmlformats.org/drawingml/2006/main">
              <a:ext uri="{FF2B5EF4-FFF2-40B4-BE49-F238E27FC236}">
                <a16:creationId xmlns:a16="http://schemas.microsoft.com/office/drawing/2014/main" id="{74BAD5D6-1DDB-4220-82B9-8EF0A9A7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4991100" cy="1609725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EF"/>
            </a:solidFill>
            <a:prstDash val="solid"/>
          </a:ln>
        </p:spPr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b86c514c64276"/>
          <a:stretch xmlns:a="http://schemas.openxmlformats.org/drawingml/2006/main"/>
        </p:blipFill>
        <p:spPr>
          <a:xfrm xmlns:a="http://schemas.openxmlformats.org/drawingml/2006/main">
            <a:off x="7556500" y="4591050"/>
            <a:ext cx="279400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124" name="academic-outcome-closing">
            <a:extLst xmlns:a="http://schemas.openxmlformats.org/drawingml/2006/main">
              <a:ext uri="{FF2B5EF4-FFF2-40B4-BE49-F238E27FC236}">
                <a16:creationId xmlns:a16="http://schemas.microsoft.com/office/drawing/2014/main" id="{3496226F-5D27-4F3C-B2DC-2BBC39FF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67400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5AA8"/>
                </a:solidFill>
                <a:latin typeface="Microsoft YaHei"/>
                <a:ea typeface="Microsoft YaHei"/>
                <a:cs typeface="Microsoft YaHei"/>
              </a:rPr>
              <a:t>可展示、可使用、可管理，具备继续扩展的基础。</a:t>
            </a:r>
          </a:p>
        </p:txBody>
      </p:sp>
    </p:spTree>
    <p:extLst>
      <p:ext uri="{BB962C8B-B14F-4D97-AF65-F5344CB8AC3E}">
        <p14:creationId xmlns:p14="http://schemas.microsoft.com/office/powerpoint/2010/main" val="2448377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0D7C6C1E-9BAC-4205-B0DB-30563777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639A4C0F-7F26-4091-A5BC-E1BEAA36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97FEDEC9-E5E8-49C9-B732-98FF5DE9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6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bb657d71d40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9-role">
            <a:extLst xmlns:a="http://schemas.openxmlformats.org/drawingml/2006/main">
              <a:ext uri="{FF2B5EF4-FFF2-40B4-BE49-F238E27FC236}">
                <a16:creationId xmlns:a16="http://schemas.microsoft.com/office/drawing/2014/main" id="{63F6A7A7-C2C3-4EE0-B992-E2B13DA3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55AA8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系统功能</a:t>
            </a:r>
          </a:p>
        </p:txBody>
      </p:sp>
      <p:sp>
        <p:nvSpPr>
          <p:cNvPr id="109" name="academic-9-title">
            <a:extLst xmlns:a="http://schemas.openxmlformats.org/drawingml/2006/main">
              <a:ext uri="{FF2B5EF4-FFF2-40B4-BE49-F238E27FC236}">
                <a16:creationId xmlns:a16="http://schemas.microsoft.com/office/drawing/2014/main" id="{28EC49BE-DFBE-416A-8F18-63B1575D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TrustSci-Agent：</a:t>
            </a:r>
            <a:r>
              <a:rPr sz="22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可验证 </a:t>
            </a:r>
            <a:r>
              <a:rPr sz="22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AI Scientist </a:t>
            </a:r>
            <a:r>
              <a:rPr sz="22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科研工作台</a:t>
            </a:r>
          </a:p>
        </p:txBody>
      </p:sp>
      <p:sp>
        <p:nvSpPr>
          <p:cNvPr id="110" name="academic-9-page">
            <a:extLst xmlns:a="http://schemas.openxmlformats.org/drawingml/2006/main">
              <a:ext uri="{FF2B5EF4-FFF2-40B4-BE49-F238E27FC236}">
                <a16:creationId xmlns:a16="http://schemas.microsoft.com/office/drawing/2014/main" id="{72F42BA4-6793-4FD8-8EA9-E02AC567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8FA0B3"/>
                </a:solidFill>
                <a:latin typeface="微软雅黑"/>
                <a:ea typeface="微软雅黑"/>
                <a:cs typeface="微软雅黑"/>
              </a:defRPr>
            </a:pPr>
            <a:r>
              <a:rPr sz="80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7BB6A99-8699-46CE-9A51-6464A5A3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2400"/>
            <a:ext cx="3683000" cy="11541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从科研问题到可复核成果，形成一条完整、透明的智能研究链路。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005292A-329C-41D5-AD80-3B1C51AE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3500"/>
            <a:ext cx="368300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系统将文献、证据、假设、实验和报告放在同一工作区，过程可查看、结果可追溯、失败可处理。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A977541B-C6F0-4AAE-BE5C-8E05D47A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7000"/>
            <a:ext cx="1117600" cy="355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证据可追溯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0C4EBEDC-995A-4C7B-83AF-DA202F9C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37000"/>
            <a:ext cx="1117600" cy="355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实验可执行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B61394D9-C0ED-48D8-B139-EF6E4AA4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37000"/>
            <a:ext cx="1117600" cy="355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成果可复核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BCEC49C2-A6CF-4FF0-A0E0-41ADB516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73200"/>
            <a:ext cx="7048500" cy="3962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  <a:effectLst xmlns:a="http://schemas.openxmlformats.org/drawingml/2006/main">
            <a:outerShdw blurRad="88900" dist="31750" dir="3187807" rotWithShape="0">
              <a:srgbClr val="859AB5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6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428a4273341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4428" y="1524000"/>
            <a:ext cx="6863644" cy="3860800"/>
          </a:xfrm>
          <a:prstGeom xmlns:a="http://schemas.openxmlformats.org/drawingml/2006/main" prst="rect">
            <a:avLst/>
          </a:prstGeom>
        </p:spPr>
      </p:pic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1B004279-776E-4FF8-BBD7-752065EF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664200"/>
            <a:ext cx="7048500" cy="482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24D"/>
          </a:solidFill>
          <a:ln xmlns:a="http://schemas.openxmlformats.org/drawingml/2006/main" w="10160">
            <a:solidFill>
              <a:srgbClr val="18324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问题提出   →   证据核验   →   假设评审   →   代码实验   →   报告交付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BA232BB-DBEC-44F2-B048-63C54CDB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DFBA7340-8A44-46D9-AB18-804A7845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F98FDA60-AAA7-43FD-95F1-6AF92C88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7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2fbe8843549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9-role">
            <a:extLst xmlns:a="http://schemas.openxmlformats.org/drawingml/2006/main">
              <a:ext uri="{FF2B5EF4-FFF2-40B4-BE49-F238E27FC236}">
                <a16:creationId xmlns:a16="http://schemas.microsoft.com/office/drawing/2014/main" id="{4A84810E-05E8-46F2-AC18-7E839C5A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55AA8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任务入口</a:t>
            </a:r>
          </a:p>
        </p:txBody>
      </p:sp>
      <p:sp>
        <p:nvSpPr>
          <p:cNvPr id="109" name="academic-9-title">
            <a:extLst xmlns:a="http://schemas.openxmlformats.org/drawingml/2006/main">
              <a:ext uri="{FF2B5EF4-FFF2-40B4-BE49-F238E27FC236}">
                <a16:creationId xmlns:a16="http://schemas.microsoft.com/office/drawing/2014/main" id="{CD5D8B7D-9F91-4EA0-BE05-AC27A192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从入口到任务：科研模式统一配置</a:t>
            </a:r>
          </a:p>
        </p:txBody>
      </p:sp>
      <p:sp>
        <p:nvSpPr>
          <p:cNvPr id="110" name="academic-9-page">
            <a:extLst xmlns:a="http://schemas.openxmlformats.org/drawingml/2006/main">
              <a:ext uri="{FF2B5EF4-FFF2-40B4-BE49-F238E27FC236}">
                <a16:creationId xmlns:a16="http://schemas.microsoft.com/office/drawing/2014/main" id="{36DB9C3A-7E59-4944-8F06-0B4B0EC4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8FA0B3"/>
                </a:solidFill>
                <a:latin typeface="微软雅黑"/>
                <a:ea typeface="微软雅黑"/>
                <a:cs typeface="微软雅黑"/>
              </a:defRPr>
            </a:pPr>
            <a:r>
              <a:rPr sz="80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2" name="椭圆 1">
            <a:extLst xmlns:a="http://schemas.openxmlformats.org/drawingml/2006/main">
              <a:ext uri="{FF2B5EF4-FFF2-40B4-BE49-F238E27FC236}">
                <a16:creationId xmlns:a16="http://schemas.microsoft.com/office/drawing/2014/main" id="{49EF2363-DB71-48FF-998D-8634066C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24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5DA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6016B028-7783-40B1-B134-52263EDA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5100"/>
            <a:ext cx="241300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选择工作区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3BBB1744-29A7-4BE2-A97C-143A0F65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1500"/>
            <a:ext cx="3810000" cy="2146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  <a:effectLst xmlns:a="http://schemas.openxmlformats.org/drawingml/2006/main">
            <a:outerShdw blurRad="88900" dist="31750" dir="3187807" rotWithShape="0">
              <a:srgbClr val="859AB5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4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c7ceab4f24b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989" y="1892300"/>
            <a:ext cx="3635022" cy="2044700"/>
          </a:xfrm>
          <a:prstGeom xmlns:a="http://schemas.openxmlformats.org/drawingml/2006/main" prst="rect">
            <a:avLst/>
          </a:prstGeom>
        </p:spPr>
      </p:pic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66CD4F66-9CD0-4BAE-842E-B31B807C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3810000" cy="1295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BCF2F87-1EEF-41E2-86D7-C926248F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63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BBE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6DDF08F6-7ECB-4C30-BCAF-010C48FA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4381500"/>
            <a:ext cx="3454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双入口设计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664C6C8-9B1D-4F4A-AADC-0A0C6487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4724400"/>
            <a:ext cx="34544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经典科研工作流覆盖通用课题；地震科研专家聚焦事件分类、可信基线与代码实验。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91A204E8-AE8F-45AB-BDF6-E56E277D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0400"/>
            <a:ext cx="1041400" cy="31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自动发现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B9528B07-7845-4B01-81C8-06250248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200" y="5740400"/>
            <a:ext cx="1041400" cy="31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创意精修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ED7EB6BF-3DF9-4AD6-98BA-7C94890B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900" y="5740400"/>
            <a:ext cx="1041400" cy="31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实验辅助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4E0120DE-8763-42F6-A388-AFAABF7A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24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5DA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41701FB-AF17-4DE8-B4B3-703BC65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35100"/>
            <a:ext cx="292100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配置研究任务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8E7E7D62-36D5-4982-B549-269EAEB5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1500"/>
            <a:ext cx="6858000" cy="3860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  <a:effectLst xmlns:a="http://schemas.openxmlformats.org/drawingml/2006/main">
            <a:outerShdw blurRad="88900" dist="31750" dir="3187807" rotWithShape="0">
              <a:srgbClr val="859AB5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5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4098e792048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9989" y="1892300"/>
            <a:ext cx="6683022" cy="37592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4926FEA-0EBF-4333-A7D2-7AD502D6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67400"/>
            <a:ext cx="68580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研究模式、科研问题、论文规模和运行方式在一个入口完成配置。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03F9D94-4CE3-4CE0-839B-1F9D24D2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26A006B3-21F6-4DD0-9958-C9BAB2C6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3A56B327-4AC0-43F9-B8D6-D076623C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6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8cfd427a9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9-role">
            <a:extLst xmlns:a="http://schemas.openxmlformats.org/drawingml/2006/main">
              <a:ext uri="{FF2B5EF4-FFF2-40B4-BE49-F238E27FC236}">
                <a16:creationId xmlns:a16="http://schemas.microsoft.com/office/drawing/2014/main" id="{71931CDA-1413-42A1-B7AC-11E58886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55AA8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科研工作台</a:t>
            </a:r>
          </a:p>
        </p:txBody>
      </p:sp>
      <p:sp>
        <p:nvSpPr>
          <p:cNvPr id="109" name="academic-9-title">
            <a:extLst xmlns:a="http://schemas.openxmlformats.org/drawingml/2006/main">
              <a:ext uri="{FF2B5EF4-FFF2-40B4-BE49-F238E27FC236}">
                <a16:creationId xmlns:a16="http://schemas.microsoft.com/office/drawing/2014/main" id="{79E41AD4-1868-44D1-887B-2FAC699D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三栏协同：过程、结果与论文同屏联动</a:t>
            </a:r>
          </a:p>
        </p:txBody>
      </p:sp>
      <p:sp>
        <p:nvSpPr>
          <p:cNvPr id="110" name="academic-9-page">
            <a:extLst xmlns:a="http://schemas.openxmlformats.org/drawingml/2006/main">
              <a:ext uri="{FF2B5EF4-FFF2-40B4-BE49-F238E27FC236}">
                <a16:creationId xmlns:a16="http://schemas.microsoft.com/office/drawing/2014/main" id="{4DC099D6-323C-4F30-AC7C-544F29A7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8FA0B3"/>
                </a:solidFill>
                <a:latin typeface="微软雅黑"/>
                <a:ea typeface="微软雅黑"/>
                <a:cs typeface="微软雅黑"/>
              </a:defRPr>
            </a:pPr>
            <a:r>
              <a:rPr sz="80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12206B12-4A9F-430C-A519-8D1AE5D2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用户无需在多个工具间切换，即可掌握任务状态、阶段产物和原始文献。</a:t>
            </a:r>
          </a:p>
        </p:txBody>
      </p:sp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BD8B10C4-272F-4CE9-B235-090732D3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8509000" cy="444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  <a:effectLst xmlns:a="http://schemas.openxmlformats.org/drawingml/2006/main">
            <a:outerShdw blurRad="88900" dist="31750" dir="3187807" rotWithShape="0">
              <a:srgbClr val="859AB5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ecb6ede514a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5200" y="1803400"/>
            <a:ext cx="7721600" cy="4343400"/>
          </a:xfrm>
          <a:prstGeom xmlns:a="http://schemas.openxmlformats.org/drawingml/2006/main" prst="rect">
            <a:avLst/>
          </a:prstGeom>
        </p:spPr>
      </p:pic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1FA1D2EC-690E-4049-9F3F-44F0C1F1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52600"/>
            <a:ext cx="2286000" cy="127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02BD16D-1B87-45E9-A2D5-17A215F6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52600"/>
            <a:ext cx="63500" cy="1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BBE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18F2487-A8A3-48A9-B0B6-7774B5D0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00" y="1905000"/>
            <a:ext cx="1930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左侧｜任务与历史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1063506-482D-4B04-B351-A667F233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00" y="2247900"/>
            <a:ext cx="19304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配置任务、查看执行消息，恢复已有研究工作区。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923EA56D-ACA1-495E-B63E-BA60664E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1200"/>
            <a:ext cx="2286000" cy="127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93D704D-F65F-4109-B6D4-7AD962D5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1200"/>
            <a:ext cx="63500" cy="1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76E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F7DFF77-6576-48A2-90AF-DBD9B987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00" y="3403600"/>
            <a:ext cx="1930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中部｜流程与结果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DCEA704-6D16-4482-9698-574167C5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00" y="3746500"/>
            <a:ext cx="19304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六个科研阶段集中呈现，进度与结果实时可见。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5B5D845A-7D93-4BB1-B21C-8FF07A5E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49800"/>
            <a:ext cx="2286000" cy="127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5D65AB2-0573-47A2-AE99-B61AB7D7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49800"/>
            <a:ext cx="63500" cy="1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912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523B585-85EE-4122-967B-D9FD8E39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00" y="4902200"/>
            <a:ext cx="1930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右侧｜论文原文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1F95302D-5484-4013-9F5E-9B3AA8F4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00" y="5245100"/>
            <a:ext cx="19304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选择论文后同步显示摘要、来源与原文入口。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FF6C8BB5-E05C-47C2-8023-B2F80B4C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8934C9F9-6BA5-4E0B-8259-6F674429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4FAE7CF5-6DF3-4E30-A901-D962FB5E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7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8d1e31db54d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9-role">
            <a:extLst xmlns:a="http://schemas.openxmlformats.org/drawingml/2006/main">
              <a:ext uri="{FF2B5EF4-FFF2-40B4-BE49-F238E27FC236}">
                <a16:creationId xmlns:a16="http://schemas.microsoft.com/office/drawing/2014/main" id="{E001CCA2-5813-40C8-BB19-FB67A30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55AA8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可信检索</a:t>
            </a:r>
          </a:p>
        </p:txBody>
      </p:sp>
      <p:sp>
        <p:nvSpPr>
          <p:cNvPr id="109" name="academic-9-title">
            <a:extLst xmlns:a="http://schemas.openxmlformats.org/drawingml/2006/main">
              <a:ext uri="{FF2B5EF4-FFF2-40B4-BE49-F238E27FC236}">
                <a16:creationId xmlns:a16="http://schemas.microsoft.com/office/drawing/2014/main" id="{1E80F225-9C44-4B1D-812C-800D2B09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文献与证据：结论来源可追溯</a:t>
            </a:r>
          </a:p>
        </p:txBody>
      </p:sp>
      <p:sp>
        <p:nvSpPr>
          <p:cNvPr id="110" name="academic-9-page">
            <a:extLst xmlns:a="http://schemas.openxmlformats.org/drawingml/2006/main">
              <a:ext uri="{FF2B5EF4-FFF2-40B4-BE49-F238E27FC236}">
                <a16:creationId xmlns:a16="http://schemas.microsoft.com/office/drawing/2014/main" id="{5832B330-4B2F-4B1C-883A-E9B6B005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8FA0B3"/>
                </a:solidFill>
                <a:latin typeface="微软雅黑"/>
                <a:ea typeface="微软雅黑"/>
                <a:cs typeface="微软雅黑"/>
              </a:defRPr>
            </a:pPr>
            <a:r>
              <a:rPr sz="80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508EA2EE-1491-40E9-938D-D877B830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系统不仅检索论文，还对引用状态和证据用途进行结构化管理。</a:t>
            </a:r>
          </a:p>
        </p:txBody>
      </p:sp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6E9F114D-DADE-495F-A136-1BEE553D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9900"/>
            <a:ext cx="2108200" cy="31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文献检索与论文阅读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BFFB9B5D-723A-4409-AAAC-8CAA9857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739900"/>
            <a:ext cx="2108200" cy="31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引用核验与证据台账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27A3F79-777D-43CA-8CF1-38A04167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5334000" cy="311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  <a:effectLst xmlns:a="http://schemas.openxmlformats.org/drawingml/2006/main">
            <a:outerShdw blurRad="88900" dist="31750" dir="3187807" rotWithShape="0">
              <a:srgbClr val="859AB5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5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783ad1a1b46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7808" y="2222500"/>
            <a:ext cx="3861385" cy="3009900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67C8DF9A-DA2E-46D1-8624-FD631C9D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171700"/>
            <a:ext cx="5359400" cy="311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  <a:effectLst xmlns:a="http://schemas.openxmlformats.org/drawingml/2006/main">
            <a:outerShdw blurRad="88900" dist="31750" dir="3187807" rotWithShape="0">
              <a:srgbClr val="859AB5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7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594a987e84f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3425" y="2222500"/>
            <a:ext cx="3714750" cy="3009900"/>
          </a:xfrm>
          <a:prstGeom xmlns:a="http://schemas.openxmlformats.org/drawingml/2006/main" prst="rect">
            <a:avLst/>
          </a:prstGeom>
        </p:spPr>
      </p:pic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C54C92AC-8531-4FCE-8407-DBD21735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1000"/>
            <a:ext cx="3429000" cy="762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8DD120-75C3-46DD-82D6-D8A4F0BC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1000"/>
            <a:ext cx="6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BBE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CFC0E90C-31B7-4524-8DDB-4E4E18AA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5613400"/>
            <a:ext cx="3073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真实来源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A18B542-DFAF-4FA2-A805-3D5C7945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5956300"/>
            <a:ext cx="3073400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OpenAlex</a:t>
            </a:r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Crossref</a:t>
            </a:r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arXiv </a:t>
            </a:r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等来源统一汇总。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ADB7D5A2-1255-4027-825D-FC5AACF8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61000"/>
            <a:ext cx="3429000" cy="762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7EE8146-804F-4103-9174-989AEB36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61000"/>
            <a:ext cx="6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76E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95F8B8F0-0DFE-4A7D-8937-73DF7E44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5613400"/>
            <a:ext cx="3073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核验状态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6E3D253-932C-4962-B038-F6EEBCB1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5956300"/>
            <a:ext cx="3073400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DOI</a:t>
            </a:r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、可访问性和报告资格清晰标记。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72C2A89A-3364-4000-A098-C8EFF7A5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61000"/>
            <a:ext cx="3429000" cy="762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165E7C3-145C-4211-AB13-D86AE1A3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61000"/>
            <a:ext cx="6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912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97F67883-8B0B-4E2F-9E12-B0571435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5613400"/>
            <a:ext cx="3073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证据绑定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DF6631D-1AC9-48A2-910C-48648BA2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5956300"/>
            <a:ext cx="3073400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结论与论文原文、证据条目建立可追溯关系。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A370CCF6-5A78-42A9-8F0F-75B394EA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773D331C-6199-4313-A0A1-E4FFEA7E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D48EF268-283F-42AF-BC3F-823E675A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7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1fe1ca26540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9-role">
            <a:extLst xmlns:a="http://schemas.openxmlformats.org/drawingml/2006/main">
              <a:ext uri="{FF2B5EF4-FFF2-40B4-BE49-F238E27FC236}">
                <a16:creationId xmlns:a16="http://schemas.microsoft.com/office/drawing/2014/main" id="{D2FA33B2-E99C-47A3-B2F6-721DBC37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55AA8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科学决策</a:t>
            </a:r>
          </a:p>
        </p:txBody>
      </p:sp>
      <p:sp>
        <p:nvSpPr>
          <p:cNvPr id="109" name="academic-9-title">
            <a:extLst xmlns:a="http://schemas.openxmlformats.org/drawingml/2006/main">
              <a:ext uri="{FF2B5EF4-FFF2-40B4-BE49-F238E27FC236}">
                <a16:creationId xmlns:a16="http://schemas.microsoft.com/office/drawing/2014/main" id="{493765D8-2804-4BF1-BF9A-541D7CF6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假设与基线：多视角评审，明确可信边界</a:t>
            </a:r>
          </a:p>
        </p:txBody>
      </p:sp>
      <p:sp>
        <p:nvSpPr>
          <p:cNvPr id="110" name="academic-9-page">
            <a:extLst xmlns:a="http://schemas.openxmlformats.org/drawingml/2006/main">
              <a:ext uri="{FF2B5EF4-FFF2-40B4-BE49-F238E27FC236}">
                <a16:creationId xmlns:a16="http://schemas.microsoft.com/office/drawing/2014/main" id="{9EF6E51F-E070-4E63-850D-B5D3D530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8FA0B3"/>
                </a:solidFill>
                <a:latin typeface="微软雅黑"/>
                <a:ea typeface="微软雅黑"/>
                <a:cs typeface="微软雅黑"/>
              </a:defRPr>
            </a:pPr>
            <a:r>
              <a:rPr sz="80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859C2E13-A2C0-4EFA-9827-E0C59871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5100"/>
            <a:ext cx="1676400" cy="31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候选假设竞技场</a:t>
            </a:r>
          </a:p>
        </p:txBody>
      </p:sp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3851C996-1C39-44C1-B3AD-59913171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00" y="1435100"/>
            <a:ext cx="1422400" cy="31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可信 </a:t>
            </a: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Baseline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A872FC4D-C448-4F8A-BEA3-E175F12B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9600"/>
            <a:ext cx="5778500" cy="3733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  <a:effectLst xmlns:a="http://schemas.openxmlformats.org/drawingml/2006/main">
            <a:outerShdw blurRad="88900" dist="31750" dir="3187807" rotWithShape="0">
              <a:srgbClr val="859AB5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4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161308b3043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5790" y="1930400"/>
            <a:ext cx="5169920" cy="3632200"/>
          </a:xfrm>
          <a:prstGeom xmlns:a="http://schemas.openxmlformats.org/drawingml/2006/main" prst="rect">
            <a:avLst/>
          </a:prstGeom>
        </p:spPr>
      </p:pic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2FDA6B8F-6CC1-4DD0-A7BD-024EFD07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00" y="1879600"/>
            <a:ext cx="4940300" cy="322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  <a:effectLst xmlns:a="http://schemas.openxmlformats.org/drawingml/2006/main">
            <a:outerShdw blurRad="88900" dist="31750" dir="3187807" rotWithShape="0">
              <a:srgbClr val="859AB5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6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9d6678a5e4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0588" y="1930400"/>
            <a:ext cx="4759523" cy="3124200"/>
          </a:xfrm>
          <a:prstGeom xmlns:a="http://schemas.openxmlformats.org/drawingml/2006/main" prst="rect">
            <a:avLst/>
          </a:prstGeom>
        </p:spPr>
      </p:pic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6912695-4453-4123-BFD2-85DD9D84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00" y="5321300"/>
            <a:ext cx="4940300" cy="8509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0DD3D5D-04D7-4469-9E8B-D63DD56F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00" y="5321300"/>
            <a:ext cx="63500" cy="85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BBE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62C9033-F137-498B-8471-E3561CB2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5473700"/>
            <a:ext cx="45847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三类评审视角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79B2F57-C474-426F-B13B-9DFC2207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5816600"/>
            <a:ext cx="4584700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领域专家、机器学习专家和审慎评审者共同评分，保留风险与修改建议。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9BA3EF3-70E5-412C-9A56-4A2C3BFE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03900"/>
            <a:ext cx="5778500" cy="176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Top 1 </a:t>
            </a:r>
            <a:r>
              <a:rPr sz="11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自动进入实验；</a:t>
            </a:r>
            <a:r>
              <a:rPr sz="11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Top 2 </a:t>
            </a:r>
            <a:r>
              <a:rPr sz="11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作为切换候选，评审过程和选择依据完整保留。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D491FE9E-B303-44EA-8709-E19317F1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047E3538-A8F7-4305-9955-FC5C0321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596F01A3-7DDF-4E0D-A1E8-0D31E9B5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7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81b5cdada48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9-role">
            <a:extLst xmlns:a="http://schemas.openxmlformats.org/drawingml/2006/main">
              <a:ext uri="{FF2B5EF4-FFF2-40B4-BE49-F238E27FC236}">
                <a16:creationId xmlns:a16="http://schemas.microsoft.com/office/drawing/2014/main" id="{FE27A218-5C2F-47E0-A232-620A0365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55AA8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可执行验证</a:t>
            </a:r>
          </a:p>
        </p:txBody>
      </p:sp>
      <p:sp>
        <p:nvSpPr>
          <p:cNvPr id="109" name="academic-9-title">
            <a:extLst xmlns:a="http://schemas.openxmlformats.org/drawingml/2006/main">
              <a:ext uri="{FF2B5EF4-FFF2-40B4-BE49-F238E27FC236}">
                <a16:creationId xmlns:a16="http://schemas.microsoft.com/office/drawing/2014/main" id="{9F36C76B-475F-42A6-B79B-B4E2A1DA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实验闭环：从代码到结果</a:t>
            </a:r>
          </a:p>
        </p:txBody>
      </p:sp>
      <p:sp>
        <p:nvSpPr>
          <p:cNvPr id="110" name="academic-9-page">
            <a:extLst xmlns:a="http://schemas.openxmlformats.org/drawingml/2006/main">
              <a:ext uri="{FF2B5EF4-FFF2-40B4-BE49-F238E27FC236}">
                <a16:creationId xmlns:a16="http://schemas.microsoft.com/office/drawing/2014/main" id="{46AA244F-C363-4720-A94F-16A2FFB8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8FA0B3"/>
                </a:solidFill>
                <a:latin typeface="微软雅黑"/>
                <a:ea typeface="微软雅黑"/>
                <a:cs typeface="微软雅黑"/>
              </a:defRPr>
            </a:pPr>
            <a:r>
              <a:rPr sz="80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4A064E1C-88BA-4E27-94CC-B12E5EAB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5100"/>
            <a:ext cx="1600200" cy="31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实验计划与代码</a:t>
            </a:r>
          </a:p>
        </p:txBody>
      </p:sp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2612416E-297B-4378-883F-3B761F6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1435100"/>
            <a:ext cx="1600200" cy="31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指标结果与反馈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3ABE5314-1F5B-4B3C-ABC1-035EED28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9600"/>
            <a:ext cx="5397500" cy="3530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  <a:effectLst xmlns:a="http://schemas.openxmlformats.org/drawingml/2006/main">
            <a:outerShdw blurRad="88900" dist="31750" dir="3187807" rotWithShape="0">
              <a:srgbClr val="859AB5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4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56b2426f64e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500" y="1930400"/>
            <a:ext cx="51435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9CD01F81-2813-426F-A902-47C7859B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1879600"/>
            <a:ext cx="5321300" cy="3530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  <a:effectLst xmlns:a="http://schemas.openxmlformats.org/drawingml/2006/main">
            <a:outerShdw blurRad="88900" dist="31750" dir="3187807" rotWithShape="0">
              <a:srgbClr val="859AB5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6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44135faa346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1797" y="1930400"/>
            <a:ext cx="4776107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73397DCC-3049-42D5-BB05-61317F93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2300"/>
            <a:ext cx="2006600" cy="482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E034E68C-4D72-4B93-84C9-BE9D185D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39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5DA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D4F7281-E7DA-4889-B257-BDAE1859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6600"/>
            <a:ext cx="1371600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生成方案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709C889-B420-45B9-B8BB-8E5A69C1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100" y="5702300"/>
            <a:ext cx="2006600" cy="482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942EF07D-F9A6-4B38-8096-E1EA8E1B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00" y="58039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5DA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7B622FF-13AB-47DF-93F9-0DBE7E94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5816600"/>
            <a:ext cx="1371600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执行测试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E1324385-5083-40A8-B071-B00558D7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700" y="5702300"/>
            <a:ext cx="2006600" cy="482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D0FC47FB-5B68-481D-8FF4-778462C9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58039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5DA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C914554F-941F-4F82-8D59-587C7B8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816600"/>
            <a:ext cx="1371600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对比基线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D1F73EE7-B671-485F-A2FD-CACCAA7C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02300"/>
            <a:ext cx="2006600" cy="482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椭圆 19">
            <a:extLst xmlns:a="http://schemas.openxmlformats.org/drawingml/2006/main">
              <a:ext uri="{FF2B5EF4-FFF2-40B4-BE49-F238E27FC236}">
                <a16:creationId xmlns:a16="http://schemas.microsoft.com/office/drawing/2014/main" id="{547866F9-9C2D-437B-9857-CF4ECE1D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8039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5DA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0D9FA125-4580-4FB3-A60E-DB4D4431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16600"/>
            <a:ext cx="1371600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分析结果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BF0E9C36-7F28-4E57-96B7-5FED5AA9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5702300"/>
            <a:ext cx="2006600" cy="482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863BA1A7-E100-468E-B052-984C3736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0" y="58039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5DA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68FEF23-07BD-47DF-B87C-2F19706E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200" y="5816600"/>
            <a:ext cx="1371600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重写 </a:t>
            </a:r>
            <a:r>
              <a:rPr sz="105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/ </a:t>
            </a:r>
            <a:r>
              <a:rPr sz="105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切换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4B0B17D4-9E86-4A48-BBE7-B12DDD3B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879676"/>
            <a:ext cx="11038112" cy="3472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>
                <a:alpha val="8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41437565-E592-4678-904F-96EA4777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6" y="414245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</a:schemeClr>
              </a:gs>
              <a:gs pos="73000">
                <a:schemeClr val="accent1">
                  <a:lumMod val="95000"/>
                  <a:lumOff val="5000"/>
                </a:schemeClr>
              </a:gs>
              <a:gs pos="35000">
                <a:schemeClr val="accent1">
                  <a:lumMod val="90000"/>
                  <a:lumOff val="1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2655A55B-D2BF-4149-A34D-F1300278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66" y="473441"/>
            <a:ext cx="302074" cy="30207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0">
                <a:schemeClr val="accent1">
                  <a:lumMod val="100000"/>
                  <a:alpha val="40000"/>
                </a:schemeClr>
              </a:gs>
              <a:gs pos="35000">
                <a:schemeClr val="accent1">
                  <a:lumMod val="90000"/>
                  <a:lumOff val="10000"/>
                  <a:alpha val="40000"/>
                </a:schemeClr>
              </a:gs>
            </a:gsLst>
            <a:path path="circle">
              <a:fillToRect l="0" t="0" r="100000" b="100000"/>
            </a:path>
            <a:tileRect l="-100000" t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6" name="Picture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4f85983734b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3768" y="329184"/>
            <a:ext cx="2011680" cy="502920"/>
          </a:xfrm>
          <a:prstGeom xmlns:a="http://schemas.openxmlformats.org/drawingml/2006/main" prst="rect">
            <a:avLst/>
          </a:prstGeom>
        </p:spPr>
      </p:pic>
      <p:sp>
        <p:nvSpPr>
          <p:cNvPr id="108" name="academic-9-role">
            <a:extLst xmlns:a="http://schemas.openxmlformats.org/drawingml/2006/main">
              <a:ext uri="{FF2B5EF4-FFF2-40B4-BE49-F238E27FC236}">
                <a16:creationId xmlns:a16="http://schemas.microsoft.com/office/drawing/2014/main" id="{1ED85916-00A4-4809-9FE3-D72EE4D3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55AA8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成果交付</a:t>
            </a:r>
          </a:p>
        </p:txBody>
      </p:sp>
      <p:sp>
        <p:nvSpPr>
          <p:cNvPr id="109" name="academic-9-title">
            <a:extLst xmlns:a="http://schemas.openxmlformats.org/drawingml/2006/main">
              <a:ext uri="{FF2B5EF4-FFF2-40B4-BE49-F238E27FC236}">
                <a16:creationId xmlns:a16="http://schemas.microsoft.com/office/drawing/2014/main" id="{C01C35F3-088A-42F2-A432-A1ECAA20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24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报告与交付：审计、导出、工作区一并留档</a:t>
            </a:r>
          </a:p>
        </p:txBody>
      </p:sp>
      <p:sp>
        <p:nvSpPr>
          <p:cNvPr id="110" name="academic-9-page">
            <a:extLst xmlns:a="http://schemas.openxmlformats.org/drawingml/2006/main">
              <a:ext uri="{FF2B5EF4-FFF2-40B4-BE49-F238E27FC236}">
                <a16:creationId xmlns:a16="http://schemas.microsoft.com/office/drawing/2014/main" id="{D76CA743-14FF-4535-B0A8-285A2680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8FA0B3"/>
                </a:solidFill>
                <a:latin typeface="微软雅黑"/>
                <a:ea typeface="微软雅黑"/>
                <a:cs typeface="微软雅黑"/>
              </a:defRPr>
            </a:pPr>
            <a:r>
              <a:rPr sz="80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0333FBE-646A-4E57-AFCE-A8B47BC9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192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最终交付不只有一份报告，还包括引用、证据、实验和过程记录。</a:t>
            </a:r>
          </a:p>
        </p:txBody>
      </p:sp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246CD29E-03C4-4320-B8D0-3A896F63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8000"/>
            <a:ext cx="7493000" cy="4292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  <a:effectLst xmlns:a="http://schemas.openxmlformats.org/drawingml/2006/main">
            <a:outerShdw blurRad="88900" dist="31750" dir="3187807" rotWithShape="0">
              <a:srgbClr val="859AB5">
                <a:alpha val="22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e02525fb345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657" y="1828800"/>
            <a:ext cx="6590685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8A8E258F-A344-40F1-A693-67463057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8000"/>
            <a:ext cx="3238500" cy="1168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CF2FD7A-007A-4D97-9B09-2907966A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8000"/>
            <a:ext cx="63500" cy="116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BBE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7854D3A-F3A3-400F-B1B6-C18AECC6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1930400"/>
            <a:ext cx="28829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审查清单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ABE0863-C5E2-4757-9024-227CBE0A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2273300"/>
            <a:ext cx="28829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工作完成、引用确认、证据冻结和结论支持逐项检查。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071C9F9-3276-4E9C-98C4-8BA8C862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75000"/>
            <a:ext cx="3238500" cy="1168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864337C-7926-4CCA-B928-E4B7F9B8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75000"/>
            <a:ext cx="63500" cy="116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76E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DDE31C4B-AB82-45E9-B668-68107F8B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3327400"/>
            <a:ext cx="28829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主张审计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4DAB90B-06D9-41B6-810C-E14F4DFA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3670300"/>
            <a:ext cx="28829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区分已支持、弱支持与不支持结论，避免过度表述。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D033C871-76A2-4C26-A4B7-7696DAD8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238500" cy="1168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DBF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A29A30F-AEB5-41DC-B458-E7CEB054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63500" cy="116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912"/>
          </a:solidFill>
          <a:ln xmlns:a="http://schemas.openxmlformats.org/drawingml/2006/main" w="1270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6B544DF-AE31-41F8-8BA1-D4C37FF8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4724400"/>
            <a:ext cx="28829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8324D"/>
                </a:solidFill>
                <a:latin typeface="微软雅黑"/>
                <a:ea typeface="微软雅黑"/>
                <a:cs typeface="微软雅黑"/>
              </a:rPr>
              <a:t>成果归档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E36C9398-F09C-4C62-B10C-FB8F9580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5067300"/>
            <a:ext cx="2882900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5B6F8B"/>
                </a:solidFill>
                <a:latin typeface="微软雅黑"/>
                <a:ea typeface="微软雅黑"/>
                <a:cs typeface="微软雅黑"/>
              </a:rPr>
              <a:t>报告可重建和导出；工作区快照支持恢复与复核。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7630FE01-7499-4F56-8507-DAAF374B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905500"/>
            <a:ext cx="863600" cy="31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报告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DD4F7E0E-0918-4B47-84AF-8E01D580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300" y="5905500"/>
            <a:ext cx="863600" cy="31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7C9AC164-AADF-417E-BB48-F79C7029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600" y="5905500"/>
            <a:ext cx="863600" cy="31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160">
            <a:solidFill>
              <a:srgbClr val="F2F7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235BBE"/>
                </a:solidFill>
                <a:latin typeface="微软雅黑"/>
                <a:ea typeface="微软雅黑"/>
                <a:cs typeface="微软雅黑"/>
              </a:rPr>
              <a:t>实验</a:t>
            </a:r>
          </a:p>
        </p:txBody>
      </p:sp>
    </p:spTree>
  </p:cSld>
</p:sld>
</file>

<file path=ppt/theme/theme1.xml><?xml version="1.0" encoding="utf-8"?>
<a:theme xmlns:a="http://schemas.openxmlformats.org/drawingml/2006/main" name="原创作者：剑如虹设计">
  <a:themeElements>
    <a:clrScheme name="剑如虹（蓝色）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54286"/>
      </a:accent1>
      <a:accent2>
        <a:srgbClr val="DEA74A"/>
      </a:accent2>
      <a:accent3>
        <a:srgbClr val="C8102E"/>
      </a:accent3>
      <a:accent4>
        <a:srgbClr val="D3385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商务风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剑如虹（蓝色）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2026-07-27T08:28:51.1150000Z</dcterms:created>
  <dcterms:modified xsi:type="dcterms:W3CDTF">2026-07-27T08:28:51.1150000Z</dcterms:modified>
</coreProperties>
</file>