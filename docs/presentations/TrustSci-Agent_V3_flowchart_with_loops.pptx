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863840" y="502920"/>
            <a:ext cx="3337560" cy="1097280"/>
          </a:xfrm>
          <a:prstGeom prst="roundRect">
            <a:avLst/>
          </a:prstGeom>
          <a:solidFill>
            <a:srgbClr val="2563EB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58200" y="1874519"/>
            <a:ext cx="2468880" cy="914400"/>
          </a:xfrm>
          <a:prstGeom prst="roundRect">
            <a:avLst/>
          </a:prstGeom>
          <a:solidFill>
            <a:srgbClr val="0F766E"/>
          </a:solidFill>
          <a:ln w="63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52360" y="3273552"/>
            <a:ext cx="3611880" cy="914400"/>
          </a:xfrm>
          <a:prstGeom prst="roundRect">
            <a:avLst/>
          </a:prstGeom>
          <a:solidFill>
            <a:srgbClr val="F59E0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78240" y="4617720"/>
            <a:ext cx="2103120" cy="731520"/>
          </a:xfrm>
          <a:prstGeom prst="roundRect">
            <a:avLst/>
          </a:prstGeom>
          <a:solidFill>
            <a:srgbClr val="7C3AED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566928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TrustSci-Agent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00784"/>
            <a:ext cx="6035040" cy="54864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BFDBFE"/>
                </a:solidFill>
                <a:latin typeface="Microsoft YaHei"/>
              </a:rPr>
              <a:t>主流程图与可信闭环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6035040" cy="59436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Microsoft YaHei"/>
              </a:rPr>
              <a:t>覆盖文献检索、证据校验、假设生成、baseline 输入、代码实验、实验重设计与最终报告生成。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03320"/>
            <a:ext cx="2057400" cy="310896"/>
          </a:xfrm>
          <a:prstGeom prst="roundRect">
            <a:avLst/>
          </a:prstGeom>
          <a:solidFill>
            <a:srgbClr val="CCFBF1"/>
          </a:solidFill>
          <a:ln w="14604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0F172A"/>
                </a:solidFill>
                <a:latin typeface="Microsoft YaHei"/>
              </a:rPr>
              <a:t>文献证据循环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06240"/>
            <a:ext cx="2057400" cy="310896"/>
          </a:xfrm>
          <a:prstGeom prst="roundRect">
            <a:avLst/>
          </a:prstGeom>
          <a:solidFill>
            <a:srgbClr val="EDE9FE"/>
          </a:solidFill>
          <a:ln w="14604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0F172A"/>
                </a:solidFill>
                <a:latin typeface="Microsoft YaHei"/>
              </a:rPr>
              <a:t>假设批判修正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09160"/>
            <a:ext cx="2057400" cy="310896"/>
          </a:xfrm>
          <a:prstGeom prst="roundRect">
            <a:avLst/>
          </a:prstGeom>
          <a:solidFill>
            <a:srgbClr val="FEF3C7"/>
          </a:solidFill>
          <a:ln w="14604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0F172A"/>
                </a:solidFill>
                <a:latin typeface="Microsoft YaHei"/>
              </a:rPr>
              <a:t>代码修复循环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212080"/>
            <a:ext cx="2057400" cy="310896"/>
          </a:xfrm>
          <a:prstGeom prst="roundRect">
            <a:avLst/>
          </a:prstGeom>
          <a:solidFill>
            <a:srgbClr val="FEE2E2"/>
          </a:solidFill>
          <a:ln w="14604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0F172A"/>
                </a:solidFill>
                <a:latin typeface="Microsoft YaHei"/>
              </a:rPr>
              <a:t>实验重设计循环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703320"/>
            <a:ext cx="3840480" cy="150876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320" b="0">
                <a:solidFill>
                  <a:srgbClr val="E2E8F0"/>
                </a:solidFill>
                <a:latin typeface="Microsoft YaHei"/>
              </a:rPr>
              <a:t>本 PPT 将流程中的“回路”单独标出：系统不是一次性线性生成，而是在证据、假设、代码和实验效果上持续校验与回退。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TrustSci-Agent V3 | 多智能体可信科研流程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Microsoft YaHei"/>
              </a:rPr>
              <a:t>TrustSci-Agent V3 主流程图（含循环）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19456"/>
            <a:ext cx="38862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r"/>
            <a:r>
              <a:rPr sz="840" b="0">
                <a:solidFill>
                  <a:srgbClr val="64748B"/>
                </a:solidFill>
                <a:latin typeface="Microsoft YaHei"/>
              </a:rPr>
              <a:t>虚线箭头表示质量门未通过时的回退循环；绿色菱形表示判断门。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" y="566928"/>
            <a:ext cx="960120" cy="292608"/>
          </a:xfrm>
          <a:prstGeom prst="roundRect">
            <a:avLst/>
          </a:prstGeom>
          <a:solidFill>
            <a:srgbClr val="2563EB"/>
          </a:solidFill>
          <a:ln w="14604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60" b="1">
                <a:solidFill>
                  <a:srgbClr val="FFFFFF"/>
                </a:solidFill>
                <a:latin typeface="Microsoft YaHei"/>
              </a:rPr>
              <a:t>输入与规划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99032" y="713232"/>
            <a:ext cx="10232136" cy="0"/>
          </a:xfrm>
          <a:prstGeom prst="line">
            <a:avLst/>
          </a:prstGeom>
          <a:ln w="571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9184" y="1664208"/>
            <a:ext cx="960120" cy="292608"/>
          </a:xfrm>
          <a:prstGeom prst="roundRect">
            <a:avLst/>
          </a:prstGeom>
          <a:solidFill>
            <a:srgbClr val="0F766E"/>
          </a:solidFill>
          <a:ln w="14604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60" b="1">
                <a:solidFill>
                  <a:srgbClr val="FFFFFF"/>
                </a:solidFill>
                <a:latin typeface="Microsoft YaHei"/>
              </a:rPr>
              <a:t>文献证据闭环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99032" y="1810512"/>
            <a:ext cx="10232136" cy="0"/>
          </a:xfrm>
          <a:prstGeom prst="line">
            <a:avLst/>
          </a:prstGeom>
          <a:ln w="5715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9184" y="2761488"/>
            <a:ext cx="960120" cy="292608"/>
          </a:xfrm>
          <a:prstGeom prst="roundRect">
            <a:avLst/>
          </a:prstGeom>
          <a:solidFill>
            <a:srgbClr val="7C3AED"/>
          </a:solidFill>
          <a:ln w="14604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60" b="1">
                <a:solidFill>
                  <a:srgbClr val="FFFFFF"/>
                </a:solidFill>
                <a:latin typeface="Microsoft YaHei"/>
              </a:rPr>
              <a:t>假设与实验设计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99032" y="2907792"/>
            <a:ext cx="10232136" cy="0"/>
          </a:xfrm>
          <a:prstGeom prst="line">
            <a:avLst/>
          </a:prstGeom>
          <a:ln w="5715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9184" y="4041648"/>
            <a:ext cx="960120" cy="292608"/>
          </a:xfrm>
          <a:prstGeom prst="roundRect">
            <a:avLst/>
          </a:prstGeom>
          <a:solidFill>
            <a:srgbClr val="F59E0B"/>
          </a:solidFill>
          <a:ln w="14604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60" b="1">
                <a:solidFill>
                  <a:srgbClr val="FFFFFF"/>
                </a:solidFill>
                <a:latin typeface="Microsoft YaHei"/>
              </a:rPr>
              <a:t>代码实验与结果闭环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99032" y="4187952"/>
            <a:ext cx="10232136" cy="0"/>
          </a:xfrm>
          <a:prstGeom prst="line">
            <a:avLst/>
          </a:prstGeom>
          <a:ln w="571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9184" y="5559552"/>
            <a:ext cx="960120" cy="292608"/>
          </a:xfrm>
          <a:prstGeom prst="roundRect">
            <a:avLst/>
          </a:prstGeom>
          <a:solidFill>
            <a:srgbClr val="334155"/>
          </a:solidFill>
          <a:ln w="1460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60" b="1">
                <a:solidFill>
                  <a:srgbClr val="FFFFFF"/>
                </a:solidFill>
                <a:latin typeface="Microsoft YaHei"/>
              </a:rPr>
              <a:t>报告与追踪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99032" y="5705856"/>
            <a:ext cx="10232136" cy="0"/>
          </a:xfrm>
          <a:prstGeom prst="line">
            <a:avLst/>
          </a:prstGeom>
          <a:ln w="571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704088"/>
            <a:ext cx="960120" cy="475488"/>
          </a:xfrm>
          <a:prstGeom prst="roundRect">
            <a:avLst/>
          </a:prstGeom>
          <a:solidFill>
            <a:srgbClr val="2563EB"/>
          </a:solidFill>
          <a:ln w="14604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Microsoft YaHei"/>
              </a:rPr>
              <a:t>用户输入
问题/想法/实验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64208" y="704088"/>
            <a:ext cx="987552" cy="475488"/>
          </a:xfrm>
          <a:prstGeom prst="roundRect">
            <a:avLst/>
          </a:prstGeom>
          <a:solidFill>
            <a:srgbClr val="2563EB"/>
          </a:solidFill>
          <a:ln w="14604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40" b="1">
                <a:solidFill>
                  <a:srgbClr val="FFFFFF"/>
                </a:solidFill>
                <a:latin typeface="Microsoft YaHei"/>
              </a:rPr>
              <a:t>Intent Router
三种模式识别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9504" y="704088"/>
            <a:ext cx="987552" cy="475488"/>
          </a:xfrm>
          <a:prstGeom prst="roundRect">
            <a:avLst/>
          </a:prstGeom>
          <a:solidFill>
            <a:srgbClr val="2563EB"/>
          </a:solidFill>
          <a:ln w="14604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40" b="1">
                <a:solidFill>
                  <a:srgbClr val="FFFFFF"/>
                </a:solidFill>
                <a:latin typeface="Microsoft YaHei"/>
              </a:rPr>
              <a:t>Planner
检索与任务计划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33087" y="704088"/>
            <a:ext cx="969264" cy="475488"/>
          </a:xfrm>
          <a:prstGeom prst="roundRect">
            <a:avLst/>
          </a:prstGeom>
          <a:solidFill>
            <a:srgbClr val="CCFBF1"/>
          </a:solidFill>
          <a:ln w="14604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40" b="1">
                <a:solidFill>
                  <a:srgbClr val="0F172A"/>
                </a:solidFill>
                <a:latin typeface="Microsoft YaHei"/>
              </a:rPr>
              <a:t>Literature Search
文献检索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58384" y="704088"/>
            <a:ext cx="1005840" cy="475488"/>
          </a:xfrm>
          <a:prstGeom prst="roundRect">
            <a:avLst/>
          </a:prstGeom>
          <a:solidFill>
            <a:srgbClr val="CCFBF1"/>
          </a:solidFill>
          <a:ln w="14604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20" b="1">
                <a:solidFill>
                  <a:srgbClr val="0F172A"/>
                </a:solidFill>
                <a:latin typeface="Microsoft YaHei"/>
              </a:rPr>
              <a:t>Citation Verifier
DOI/标题校验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47688" y="704088"/>
            <a:ext cx="960120" cy="475488"/>
          </a:xfrm>
          <a:prstGeom prst="roundRect">
            <a:avLst/>
          </a:prstGeom>
          <a:solidFill>
            <a:srgbClr val="CCFBF1"/>
          </a:solidFill>
          <a:ln w="14604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40" b="1">
                <a:solidFill>
                  <a:srgbClr val="0F172A"/>
                </a:solidFill>
                <a:latin typeface="Microsoft YaHei"/>
              </a:rPr>
              <a:t>Evidence Ledger
证据账本</a:t>
            </a:r>
          </a:p>
        </p:txBody>
      </p:sp>
      <p:sp>
        <p:nvSpPr>
          <p:cNvPr id="20" name="Diamond 19"/>
          <p:cNvSpPr/>
          <p:nvPr/>
        </p:nvSpPr>
        <p:spPr>
          <a:xfrm>
            <a:off x="8001000" y="603504"/>
            <a:ext cx="658368" cy="658368"/>
          </a:xfrm>
          <a:prstGeom prst="diamond">
            <a:avLst/>
          </a:prstGeom>
          <a:solidFill>
            <a:srgbClr val="DCFCE7"/>
          </a:solidFill>
          <a:ln w="14604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20" b="1">
                <a:solidFill>
                  <a:srgbClr val="0F172A"/>
                </a:solidFill>
                <a:latin typeface="Microsoft YaHei"/>
              </a:rPr>
              <a:t>证据
足够?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63040" y="941832"/>
            <a:ext cx="201168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51760" y="941832"/>
            <a:ext cx="237744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77056" y="941832"/>
            <a:ext cx="256031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102351" y="941832"/>
            <a:ext cx="256033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364224" y="941832"/>
            <a:ext cx="283464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07808" y="941832"/>
            <a:ext cx="393192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4617720" y="329184"/>
            <a:ext cx="3703320" cy="274320"/>
          </a:xfrm>
          <a:prstGeom prst="line">
            <a:avLst/>
          </a:prstGeom>
          <a:ln w="13335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138928" y="210312"/>
            <a:ext cx="2286000" cy="14630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680" b="0">
                <a:solidFill>
                  <a:srgbClr val="F59E0B"/>
                </a:solidFill>
                <a:latin typeface="Microsoft YaHei"/>
              </a:rPr>
              <a:t>不足：调整关键词后重检索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1847088"/>
            <a:ext cx="932688" cy="475488"/>
          </a:xfrm>
          <a:prstGeom prst="roundRect">
            <a:avLst/>
          </a:prstGeom>
          <a:solidFill>
            <a:srgbClr val="EDE9FE"/>
          </a:solidFill>
          <a:ln w="14604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40" b="1">
                <a:solidFill>
                  <a:srgbClr val="0F172A"/>
                </a:solidFill>
                <a:latin typeface="Microsoft YaHei"/>
              </a:rPr>
              <a:t>Gap Finder
研究空白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47088" y="1847088"/>
            <a:ext cx="1170432" cy="475488"/>
          </a:xfrm>
          <a:prstGeom prst="roundRect">
            <a:avLst/>
          </a:prstGeom>
          <a:solidFill>
            <a:srgbClr val="EDE9FE"/>
          </a:solidFill>
          <a:ln w="14604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10" b="1">
                <a:solidFill>
                  <a:srgbClr val="0F172A"/>
                </a:solidFill>
                <a:latin typeface="Microsoft YaHei"/>
              </a:rPr>
              <a:t>Hypothesis Generator
生成候选假设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28416" y="1847088"/>
            <a:ext cx="1005840" cy="475488"/>
          </a:xfrm>
          <a:prstGeom prst="roundRect">
            <a:avLst/>
          </a:prstGeom>
          <a:solidFill>
            <a:srgbClr val="EDE9FE"/>
          </a:solidFill>
          <a:ln w="14604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20" b="1">
                <a:solidFill>
                  <a:srgbClr val="0F172A"/>
                </a:solidFill>
                <a:latin typeface="Microsoft YaHei"/>
              </a:rPr>
              <a:t>Critic / Arena
批判与评分</a:t>
            </a:r>
          </a:p>
        </p:txBody>
      </p:sp>
      <p:sp>
        <p:nvSpPr>
          <p:cNvPr id="32" name="Diamond 31"/>
          <p:cNvSpPr/>
          <p:nvPr/>
        </p:nvSpPr>
        <p:spPr>
          <a:xfrm>
            <a:off x="4681728" y="1746504"/>
            <a:ext cx="658368" cy="658368"/>
          </a:xfrm>
          <a:prstGeom prst="diamond">
            <a:avLst/>
          </a:prstGeom>
          <a:solidFill>
            <a:srgbClr val="DCFCE7"/>
          </a:solidFill>
          <a:ln w="14604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20" b="1">
                <a:solidFill>
                  <a:srgbClr val="0F172A"/>
                </a:solidFill>
                <a:latin typeface="Microsoft YaHei"/>
              </a:rPr>
              <a:t>假设
达标?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96712" y="1847088"/>
            <a:ext cx="1115568" cy="47548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00" b="1">
                <a:solidFill>
                  <a:srgbClr val="0F172A"/>
                </a:solidFill>
                <a:latin typeface="Microsoft YaHei"/>
              </a:rPr>
              <a:t>Experiment Designer
实验方案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14032" y="1847088"/>
            <a:ext cx="1170432" cy="475488"/>
          </a:xfrm>
          <a:prstGeom prst="roundRect">
            <a:avLst/>
          </a:prstGeom>
          <a:solidFill>
            <a:srgbClr val="FEF3C7"/>
          </a:solidFill>
          <a:ln w="14604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690" b="1">
                <a:solidFill>
                  <a:srgbClr val="0F172A"/>
                </a:solidFill>
                <a:latin typeface="Microsoft YaHei"/>
              </a:rPr>
              <a:t>Baseline Intake
人工/AI/无baseline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13648" y="1847088"/>
            <a:ext cx="1234440" cy="475488"/>
          </a:xfrm>
          <a:prstGeom prst="roundRect">
            <a:avLst/>
          </a:prstGeom>
          <a:solidFill>
            <a:srgbClr val="FEF3C7"/>
          </a:solidFill>
          <a:ln w="14604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680" b="1">
                <a:solidFill>
                  <a:srgbClr val="0F172A"/>
                </a:solidFill>
                <a:latin typeface="Microsoft YaHei"/>
              </a:rPr>
              <a:t>Baseline Quality Gate
记录来源与限制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659368" y="941832"/>
            <a:ext cx="896112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732520" y="749808"/>
            <a:ext cx="384048" cy="14630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680" b="0">
                <a:solidFill>
                  <a:srgbClr val="16A34A"/>
                </a:solidFill>
                <a:latin typeface="Microsoft YaHei"/>
              </a:rPr>
              <a:t>足够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555480" y="941832"/>
            <a:ext cx="0" cy="475488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640080" y="1417320"/>
            <a:ext cx="8915400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40080" y="1417320"/>
            <a:ext cx="0" cy="429768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572768" y="2084832"/>
            <a:ext cx="274320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017520" y="2084832"/>
            <a:ext cx="310896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34256" y="2084831"/>
            <a:ext cx="347472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340096" y="2084831"/>
            <a:ext cx="356616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349240" y="1901952"/>
            <a:ext cx="228600" cy="14630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680" b="0">
                <a:solidFill>
                  <a:srgbClr val="16A34A"/>
                </a:solidFill>
                <a:latin typeface="Microsoft YaHei"/>
              </a:rPr>
              <a:t>是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812280" y="2084831"/>
            <a:ext cx="301752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284464" y="2084831"/>
            <a:ext cx="329184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2788920" y="1536192"/>
            <a:ext cx="2203704" cy="210312"/>
          </a:xfrm>
          <a:prstGeom prst="line">
            <a:avLst/>
          </a:prstGeom>
          <a:ln w="13335">
            <a:solidFill>
              <a:srgbClr val="7C3AE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072384" y="1389888"/>
            <a:ext cx="1645920" cy="14630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680" b="0">
                <a:solidFill>
                  <a:srgbClr val="7C3AED"/>
                </a:solidFill>
                <a:latin typeface="Microsoft YaHei"/>
              </a:rPr>
              <a:t>否：修正假设后再批判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" y="3547872"/>
            <a:ext cx="1042415" cy="47548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10" b="1">
                <a:solidFill>
                  <a:srgbClr val="0F172A"/>
                </a:solidFill>
                <a:latin typeface="Microsoft YaHei"/>
              </a:rPr>
              <a:t>Code Experiment
生成/准备代码</a:t>
            </a:r>
          </a:p>
        </p:txBody>
      </p:sp>
      <p:sp>
        <p:nvSpPr>
          <p:cNvPr id="51" name="Diamond 50"/>
          <p:cNvSpPr/>
          <p:nvPr/>
        </p:nvSpPr>
        <p:spPr>
          <a:xfrm>
            <a:off x="2029968" y="3447288"/>
            <a:ext cx="694944" cy="694944"/>
          </a:xfrm>
          <a:prstGeom prst="diamond">
            <a:avLst/>
          </a:prstGeom>
          <a:solidFill>
            <a:srgbClr val="DCFCE7"/>
          </a:solidFill>
          <a:ln w="14604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20" b="1">
                <a:solidFill>
                  <a:srgbClr val="0F172A"/>
                </a:solidFill>
                <a:latin typeface="Microsoft YaHei"/>
              </a:rPr>
              <a:t>AST/安全
通过?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136392" y="3547872"/>
            <a:ext cx="960120" cy="47548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20" b="1">
                <a:solidFill>
                  <a:srgbClr val="0F172A"/>
                </a:solidFill>
                <a:latin typeface="Microsoft YaHei"/>
              </a:rPr>
              <a:t>Local Harness
本地执行</a:t>
            </a:r>
          </a:p>
        </p:txBody>
      </p:sp>
      <p:sp>
        <p:nvSpPr>
          <p:cNvPr id="53" name="Diamond 52"/>
          <p:cNvSpPr/>
          <p:nvPr/>
        </p:nvSpPr>
        <p:spPr>
          <a:xfrm>
            <a:off x="4443984" y="3447288"/>
            <a:ext cx="694944" cy="694944"/>
          </a:xfrm>
          <a:prstGeom prst="diamond">
            <a:avLst/>
          </a:prstGeom>
          <a:solidFill>
            <a:srgbClr val="DCFCE7"/>
          </a:solidFill>
          <a:ln w="14604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20" b="1">
                <a:solidFill>
                  <a:srgbClr val="0F172A"/>
                </a:solidFill>
                <a:latin typeface="Microsoft YaHei"/>
              </a:rPr>
              <a:t>运行
成功?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513832" y="3547872"/>
            <a:ext cx="1170432" cy="475488"/>
          </a:xfrm>
          <a:prstGeom prst="roundRect">
            <a:avLst/>
          </a:prstGeom>
          <a:solidFill>
            <a:srgbClr val="FEE2E2"/>
          </a:solidFill>
          <a:ln w="14604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690" b="1">
                <a:solidFill>
                  <a:srgbClr val="0F172A"/>
                </a:solidFill>
                <a:latin typeface="Microsoft YaHei"/>
              </a:rPr>
              <a:t>Experiment Result Gate
判断实验效果</a:t>
            </a:r>
          </a:p>
        </p:txBody>
      </p:sp>
      <p:sp>
        <p:nvSpPr>
          <p:cNvPr id="55" name="Diamond 54"/>
          <p:cNvSpPr/>
          <p:nvPr/>
        </p:nvSpPr>
        <p:spPr>
          <a:xfrm>
            <a:off x="7040880" y="3447288"/>
            <a:ext cx="694944" cy="694944"/>
          </a:xfrm>
          <a:prstGeom prst="diamond">
            <a:avLst/>
          </a:prstGeom>
          <a:solidFill>
            <a:srgbClr val="FEE2E2"/>
          </a:solidFill>
          <a:ln w="14604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20" b="1">
                <a:solidFill>
                  <a:srgbClr val="0F172A"/>
                </a:solidFill>
                <a:latin typeface="Microsoft YaHei"/>
              </a:rPr>
              <a:t>结果
较差?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56448" y="3547872"/>
            <a:ext cx="1170432" cy="475488"/>
          </a:xfrm>
          <a:prstGeom prst="roundRect">
            <a:avLst/>
          </a:prstGeom>
          <a:solidFill>
            <a:srgbClr val="FEE2E2"/>
          </a:solidFill>
          <a:ln w="14604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690" b="1">
                <a:solidFill>
                  <a:srgbClr val="0F172A"/>
                </a:solidFill>
                <a:latin typeface="Microsoft YaHei"/>
              </a:rPr>
              <a:t>Experiment Redesign
重新设计实验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57232" y="3547872"/>
            <a:ext cx="1005840" cy="47548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10" b="1">
                <a:solidFill>
                  <a:srgbClr val="0F172A"/>
                </a:solidFill>
                <a:latin typeface="Microsoft YaHei"/>
              </a:rPr>
              <a:t>Result Evaluation
结果评估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235440" y="2322576"/>
            <a:ext cx="0" cy="530352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621792" y="2852928"/>
            <a:ext cx="8613648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21792" y="2852928"/>
            <a:ext cx="0" cy="694944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664208" y="3785615"/>
            <a:ext cx="365760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724912" y="3785615"/>
            <a:ext cx="411480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096512" y="3785615"/>
            <a:ext cx="347472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138928" y="3785615"/>
            <a:ext cx="374904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684264" y="3785615"/>
            <a:ext cx="356616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735824" y="3785615"/>
            <a:ext cx="420624" cy="0"/>
          </a:xfrm>
          <a:prstGeom prst="line">
            <a:avLst/>
          </a:prstGeom>
          <a:ln w="13335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754112" y="3602736"/>
            <a:ext cx="228600" cy="14630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680" b="0">
                <a:solidFill>
                  <a:srgbClr val="DC2626"/>
                </a:solidFill>
                <a:latin typeface="Microsoft YaHei"/>
              </a:rPr>
              <a:t>是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388352" y="4142232"/>
            <a:ext cx="0" cy="475488"/>
          </a:xfrm>
          <a:prstGeom prst="line">
            <a:avLst/>
          </a:prstGeom>
          <a:ln w="13335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388352" y="4617720"/>
            <a:ext cx="2468880" cy="0"/>
          </a:xfrm>
          <a:prstGeom prst="line">
            <a:avLst/>
          </a:prstGeom>
          <a:ln w="13335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9857232" y="4023360"/>
            <a:ext cx="0" cy="594360"/>
          </a:xfrm>
          <a:prstGeom prst="line">
            <a:avLst/>
          </a:prstGeom>
          <a:ln w="13335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726679" y="4453128"/>
            <a:ext cx="868680" cy="14630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680" b="0">
                <a:solidFill>
                  <a:srgbClr val="16A34A"/>
                </a:solidFill>
                <a:latin typeface="Microsoft YaHei"/>
              </a:rPr>
              <a:t>否/达到上限</a:t>
            </a:r>
          </a:p>
        </p:txBody>
      </p:sp>
      <p:cxnSp>
        <p:nvCxnSpPr>
          <p:cNvPr id="72" name="Connector 71"/>
          <p:cNvCxnSpPr/>
          <p:nvPr/>
        </p:nvCxnSpPr>
        <p:spPr>
          <a:xfrm flipH="1" flipV="1">
            <a:off x="1143000" y="3200400"/>
            <a:ext cx="1234440" cy="246888"/>
          </a:xfrm>
          <a:prstGeom prst="line">
            <a:avLst/>
          </a:prstGeom>
          <a:ln w="13335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097280" y="3054096"/>
            <a:ext cx="1207008" cy="14630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650" b="0">
                <a:solidFill>
                  <a:srgbClr val="F59E0B"/>
                </a:solidFill>
                <a:latin typeface="Microsoft YaHei"/>
              </a:rPr>
              <a:t>校验失败：代码修复</a:t>
            </a:r>
          </a:p>
        </p:txBody>
      </p:sp>
      <p:cxnSp>
        <p:nvCxnSpPr>
          <p:cNvPr id="74" name="Connector 73"/>
          <p:cNvCxnSpPr/>
          <p:nvPr/>
        </p:nvCxnSpPr>
        <p:spPr>
          <a:xfrm flipH="1" flipV="1">
            <a:off x="1298448" y="3072384"/>
            <a:ext cx="3493008" cy="374904"/>
          </a:xfrm>
          <a:prstGeom prst="line">
            <a:avLst/>
          </a:prstGeom>
          <a:ln w="13335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2743200" y="2916936"/>
            <a:ext cx="1371600" cy="14630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650" b="0">
                <a:solidFill>
                  <a:srgbClr val="F59E0B"/>
                </a:solidFill>
                <a:latin typeface="Microsoft YaHei"/>
              </a:rPr>
              <a:t>运行失败：Micro Repair</a:t>
            </a:r>
          </a:p>
        </p:txBody>
      </p:sp>
      <p:cxnSp>
        <p:nvCxnSpPr>
          <p:cNvPr id="76" name="Connector 75"/>
          <p:cNvCxnSpPr/>
          <p:nvPr/>
        </p:nvCxnSpPr>
        <p:spPr>
          <a:xfrm flipV="1">
            <a:off x="8741664" y="3108960"/>
            <a:ext cx="0" cy="438912"/>
          </a:xfrm>
          <a:prstGeom prst="line">
            <a:avLst/>
          </a:prstGeom>
          <a:ln w="13335">
            <a:solidFill>
              <a:srgbClr val="DC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896112" y="3108960"/>
            <a:ext cx="7845552" cy="0"/>
          </a:xfrm>
          <a:prstGeom prst="line">
            <a:avLst/>
          </a:prstGeom>
          <a:ln w="13335">
            <a:solidFill>
              <a:srgbClr val="DC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96112" y="3108960"/>
            <a:ext cx="0" cy="438912"/>
          </a:xfrm>
          <a:prstGeom prst="line">
            <a:avLst/>
          </a:prstGeom>
          <a:ln w="13335">
            <a:solidFill>
              <a:srgbClr val="DC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376672" y="2962656"/>
            <a:ext cx="1417320" cy="14630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650" b="0">
                <a:solidFill>
                  <a:srgbClr val="DC2626"/>
                </a:solidFill>
                <a:latin typeface="Microsoft YaHei"/>
              </a:rPr>
              <a:t>重设计后回到代码实验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0080" y="5285232"/>
            <a:ext cx="960120" cy="47548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20" b="1">
                <a:solidFill>
                  <a:srgbClr val="0F172A"/>
                </a:solidFill>
                <a:latin typeface="Microsoft YaHei"/>
              </a:rPr>
              <a:t>Ablation
消融分析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938528" y="5285232"/>
            <a:ext cx="1115568" cy="47548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690" b="1">
                <a:solidFill>
                  <a:srgbClr val="0F172A"/>
                </a:solidFill>
                <a:latin typeface="Microsoft YaHei"/>
              </a:rPr>
              <a:t>Result Interpreter
结果解释/局限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429000" y="5285232"/>
            <a:ext cx="1005840" cy="475488"/>
          </a:xfrm>
          <a:prstGeom prst="roundRect">
            <a:avLst/>
          </a:prstGeom>
          <a:solidFill>
            <a:srgbClr val="334155"/>
          </a:solidFill>
          <a:ln w="1460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20" b="1">
                <a:solidFill>
                  <a:srgbClr val="FFFFFF"/>
                </a:solidFill>
                <a:latin typeface="Microsoft YaHei"/>
              </a:rPr>
              <a:t>Report Writer
最终报告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828032" y="5285232"/>
            <a:ext cx="987552" cy="475488"/>
          </a:xfrm>
          <a:prstGeom prst="roundRect">
            <a:avLst/>
          </a:prstGeom>
          <a:solidFill>
            <a:srgbClr val="CCFBF1"/>
          </a:solidFill>
          <a:ln w="14604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10" b="1">
                <a:solidFill>
                  <a:srgbClr val="0F172A"/>
                </a:solidFill>
                <a:latin typeface="Microsoft YaHei"/>
              </a:rPr>
              <a:t>Citation Audit
引用审计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72200" y="5285232"/>
            <a:ext cx="1207008" cy="475488"/>
          </a:xfrm>
          <a:prstGeom prst="roundRect">
            <a:avLst/>
          </a:prstGeom>
          <a:solidFill>
            <a:srgbClr val="FEF3C7"/>
          </a:solidFill>
          <a:ln w="14604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680" b="1">
                <a:solidFill>
                  <a:srgbClr val="0F172A"/>
                </a:solidFill>
                <a:latin typeface="Microsoft YaHei"/>
              </a:rPr>
              <a:t>Baseline / Experiment
Provenance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772400" y="5285232"/>
            <a:ext cx="1005840" cy="475488"/>
          </a:xfrm>
          <a:prstGeom prst="roundRect">
            <a:avLst/>
          </a:prstGeom>
          <a:solidFill>
            <a:srgbClr val="2563EB"/>
          </a:solidFill>
          <a:ln w="14604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导出
MD / JSON / PDF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0360152" y="4023360"/>
            <a:ext cx="0" cy="82296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640080" y="4846320"/>
            <a:ext cx="9720072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40080" y="4846320"/>
            <a:ext cx="0" cy="438912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600200" y="5522976"/>
            <a:ext cx="338328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3054096" y="5522976"/>
            <a:ext cx="374904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434840" y="5522976"/>
            <a:ext cx="393192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815584" y="5522976"/>
            <a:ext cx="356616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379208" y="5522976"/>
            <a:ext cx="393192" cy="0"/>
          </a:xfrm>
          <a:prstGeom prst="line">
            <a:avLst/>
          </a:prstGeom>
          <a:ln w="1333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9464040" y="5212080"/>
            <a:ext cx="475488" cy="228600"/>
          </a:xfrm>
          <a:prstGeom prst="roundRect">
            <a:avLst/>
          </a:prstGeom>
          <a:solidFill>
            <a:srgbClr val="0F172A"/>
          </a:solidFill>
          <a:ln w="14604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图例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464040" y="5532120"/>
            <a:ext cx="804672" cy="22860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650" b="1">
                <a:solidFill>
                  <a:srgbClr val="0F172A"/>
                </a:solidFill>
                <a:latin typeface="Microsoft YaHei"/>
              </a:rPr>
              <a:t>Agent/工具</a:t>
            </a:r>
          </a:p>
        </p:txBody>
      </p:sp>
      <p:sp>
        <p:nvSpPr>
          <p:cNvPr id="96" name="Diamond 95"/>
          <p:cNvSpPr/>
          <p:nvPr/>
        </p:nvSpPr>
        <p:spPr>
          <a:xfrm>
            <a:off x="10360152" y="5532120"/>
            <a:ext cx="694944" cy="228600"/>
          </a:xfrm>
          <a:prstGeom prst="diamond">
            <a:avLst/>
          </a:prstGeom>
          <a:solidFill>
            <a:srgbClr val="DCFCE7"/>
          </a:solidFill>
          <a:ln w="14604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650" b="1">
                <a:solidFill>
                  <a:srgbClr val="0F172A"/>
                </a:solidFill>
                <a:latin typeface="Microsoft YaHei"/>
              </a:rPr>
              <a:t>判断门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9464040" y="6016752"/>
            <a:ext cx="758952" cy="0"/>
          </a:xfrm>
          <a:prstGeom prst="line">
            <a:avLst/>
          </a:prstGeom>
          <a:ln w="1270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0287000" y="5934456"/>
            <a:ext cx="658368" cy="14630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640" b="0">
                <a:solidFill>
                  <a:srgbClr val="F59E0B"/>
                </a:solidFill>
                <a:latin typeface="Microsoft YaHei"/>
              </a:rPr>
              <a:t>循环/回退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TrustSci-Agent V3 | 多智能体可信科研流程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36576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关键循环说明：从“一次性生成”到“可信闭环”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04672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每个循环都有触发条件、回退动作和最终产物，用来降低幻觉、不可复现和过度解释风险。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25780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8" y="1527048"/>
            <a:ext cx="411480" cy="411480"/>
          </a:xfrm>
          <a:prstGeom prst="ellipse">
            <a:avLst/>
          </a:prstGeom>
          <a:solidFill>
            <a:srgbClr val="0F766E"/>
          </a:solidFill>
          <a:ln w="63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527048"/>
            <a:ext cx="416052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文献证据循环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892807"/>
            <a:ext cx="4160520" cy="8686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19">
                <a:solidFill>
                  <a:srgbClr val="334155"/>
                </a:solidFill>
                <a:latin typeface="Microsoft YaHei"/>
              </a:rPr>
              <a:t>触发：证据不足或元数据校验弱。</a:t>
            </a:r>
          </a:p>
          <a:p>
            <a:pPr algn="l">
              <a:spcAft>
                <a:spcPts val="200"/>
              </a:spcAft>
            </a:pPr>
            <a:r>
              <a:rPr sz="919">
                <a:solidFill>
                  <a:srgbClr val="334155"/>
                </a:solidFill>
                <a:latin typeface="Microsoft YaHei"/>
              </a:rPr>
              <a:t>动作：调整关键词 / 扩展范围 / 重新检索。</a:t>
            </a:r>
          </a:p>
          <a:p>
            <a:pPr algn="l">
              <a:spcAft>
                <a:spcPts val="200"/>
              </a:spcAft>
            </a:pPr>
            <a:r>
              <a:rPr sz="919">
                <a:solidFill>
                  <a:srgbClr val="334155"/>
                </a:solidFill>
                <a:latin typeface="Microsoft YaHei"/>
              </a:rPr>
              <a:t>产物：可追踪的 Evidence Ledger。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28616" y="2715768"/>
            <a:ext cx="493776" cy="0"/>
          </a:xfrm>
          <a:prstGeom prst="line">
            <a:avLst/>
          </a:prstGeom>
          <a:ln w="12700">
            <a:solidFill>
              <a:srgbClr val="0F76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422392" y="2404872"/>
            <a:ext cx="0" cy="310896"/>
          </a:xfrm>
          <a:prstGeom prst="line">
            <a:avLst/>
          </a:prstGeom>
          <a:ln w="12700">
            <a:solidFill>
              <a:srgbClr val="0F76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928616" y="2404872"/>
            <a:ext cx="493776" cy="0"/>
          </a:xfrm>
          <a:prstGeom prst="line">
            <a:avLst/>
          </a:prstGeom>
          <a:ln w="12700">
            <a:solidFill>
              <a:srgbClr val="0F76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63640" y="1325880"/>
            <a:ext cx="525780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64807" y="1527048"/>
            <a:ext cx="411480" cy="411480"/>
          </a:xfrm>
          <a:prstGeom prst="ellipse">
            <a:avLst/>
          </a:prstGeom>
          <a:solidFill>
            <a:srgbClr val="7C3AED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1527048"/>
            <a:ext cx="416052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假设批判修正循环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3448" y="1892807"/>
            <a:ext cx="4160520" cy="8686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19">
                <a:solidFill>
                  <a:srgbClr val="334155"/>
                </a:solidFill>
                <a:latin typeface="Microsoft YaHei"/>
              </a:rPr>
              <a:t>触发：Critic / Arena 评分不达标。</a:t>
            </a:r>
          </a:p>
          <a:p>
            <a:pPr algn="l">
              <a:spcAft>
                <a:spcPts val="200"/>
              </a:spcAft>
            </a:pPr>
            <a:r>
              <a:rPr sz="919">
                <a:solidFill>
                  <a:srgbClr val="334155"/>
                </a:solidFill>
                <a:latin typeface="Microsoft YaHei"/>
              </a:rPr>
              <a:t>动作：收窄问题边界、重写假设、再次批判。</a:t>
            </a:r>
          </a:p>
          <a:p>
            <a:pPr algn="l">
              <a:spcAft>
                <a:spcPts val="200"/>
              </a:spcAft>
            </a:pPr>
            <a:r>
              <a:rPr sz="919">
                <a:solidFill>
                  <a:srgbClr val="334155"/>
                </a:solidFill>
                <a:latin typeface="Microsoft YaHei"/>
              </a:rPr>
              <a:t>产物：更清晰的候选科研假设。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597896" y="2715768"/>
            <a:ext cx="493776" cy="0"/>
          </a:xfrm>
          <a:prstGeom prst="line">
            <a:avLst/>
          </a:prstGeom>
          <a:ln w="12700">
            <a:solidFill>
              <a:srgbClr val="7C3AE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091672" y="2404872"/>
            <a:ext cx="0" cy="310896"/>
          </a:xfrm>
          <a:prstGeom prst="line">
            <a:avLst/>
          </a:prstGeom>
          <a:ln w="12700">
            <a:solidFill>
              <a:srgbClr val="7C3AE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0597896" y="2404872"/>
            <a:ext cx="493776" cy="0"/>
          </a:xfrm>
          <a:prstGeom prst="line">
            <a:avLst/>
          </a:prstGeom>
          <a:ln w="12700">
            <a:solidFill>
              <a:srgbClr val="7C3AE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94360" y="3703320"/>
            <a:ext cx="525780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5528" y="3904487"/>
            <a:ext cx="411480" cy="411480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3904487"/>
            <a:ext cx="416052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代码修复循环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270248"/>
            <a:ext cx="4160520" cy="8686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19">
                <a:solidFill>
                  <a:srgbClr val="334155"/>
                </a:solidFill>
                <a:latin typeface="Microsoft YaHei"/>
              </a:rPr>
              <a:t>触发：AST 安全校验失败或本地运行失败。</a:t>
            </a:r>
          </a:p>
          <a:p>
            <a:pPr algn="l">
              <a:spcAft>
                <a:spcPts val="200"/>
              </a:spcAft>
            </a:pPr>
            <a:r>
              <a:rPr sz="919">
                <a:solidFill>
                  <a:srgbClr val="334155"/>
                </a:solidFill>
                <a:latin typeface="Microsoft YaHei"/>
              </a:rPr>
              <a:t>动作：根据错误日志进行 Micro Repair，再次校验与执行。</a:t>
            </a:r>
          </a:p>
          <a:p>
            <a:pPr algn="l">
              <a:spcAft>
                <a:spcPts val="200"/>
              </a:spcAft>
            </a:pPr>
            <a:r>
              <a:rPr sz="919">
                <a:solidFill>
                  <a:srgbClr val="334155"/>
                </a:solidFill>
                <a:latin typeface="Microsoft YaHei"/>
              </a:rPr>
              <a:t>产物：可运行的本地实验记录。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28616" y="5093208"/>
            <a:ext cx="493776" cy="0"/>
          </a:xfrm>
          <a:prstGeom prst="line">
            <a:avLst/>
          </a:prstGeom>
          <a:ln w="1270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422392" y="4782312"/>
            <a:ext cx="0" cy="310896"/>
          </a:xfrm>
          <a:prstGeom prst="line">
            <a:avLst/>
          </a:prstGeom>
          <a:ln w="1270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928616" y="4782312"/>
            <a:ext cx="493776" cy="0"/>
          </a:xfrm>
          <a:prstGeom prst="line">
            <a:avLst/>
          </a:prstGeom>
          <a:ln w="1270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3703320"/>
            <a:ext cx="525780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64807" y="3904487"/>
            <a:ext cx="411480" cy="411480"/>
          </a:xfrm>
          <a:prstGeom prst="ellipse">
            <a:avLst/>
          </a:prstGeom>
          <a:solidFill>
            <a:srgbClr val="DC2626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8" y="3904487"/>
            <a:ext cx="416052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实验重设计循环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4270248"/>
            <a:ext cx="4160520" cy="8686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19">
                <a:solidFill>
                  <a:srgbClr val="334155"/>
                </a:solidFill>
                <a:latin typeface="Microsoft YaHei"/>
              </a:rPr>
              <a:t>触发：代码能运行，但实验结果明显较差。</a:t>
            </a:r>
          </a:p>
          <a:p>
            <a:pPr algn="l">
              <a:spcAft>
                <a:spcPts val="200"/>
              </a:spcAft>
            </a:pPr>
            <a:r>
              <a:rPr sz="919">
                <a:solidFill>
                  <a:srgbClr val="334155"/>
                </a:solidFill>
                <a:latin typeface="Microsoft YaHei"/>
              </a:rPr>
              <a:t>动作：重新设计特征、模型、指标或数据划分后重跑。</a:t>
            </a:r>
          </a:p>
          <a:p>
            <a:pPr algn="l">
              <a:spcAft>
                <a:spcPts val="200"/>
              </a:spcAft>
            </a:pPr>
            <a:r>
              <a:rPr sz="919">
                <a:solidFill>
                  <a:srgbClr val="334155"/>
                </a:solidFill>
                <a:latin typeface="Microsoft YaHei"/>
              </a:rPr>
              <a:t>产物：带限制说明的结果解释。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597896" y="5093208"/>
            <a:ext cx="493776" cy="0"/>
          </a:xfrm>
          <a:prstGeom prst="line">
            <a:avLst/>
          </a:prstGeom>
          <a:ln w="12700">
            <a:solidFill>
              <a:srgbClr val="DC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1091672" y="4782312"/>
            <a:ext cx="0" cy="310896"/>
          </a:xfrm>
          <a:prstGeom prst="line">
            <a:avLst/>
          </a:prstGeom>
          <a:ln w="12700">
            <a:solidFill>
              <a:srgbClr val="DC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0597896" y="4782312"/>
            <a:ext cx="493776" cy="0"/>
          </a:xfrm>
          <a:prstGeom prst="line">
            <a:avLst/>
          </a:prstGeom>
          <a:ln w="12700">
            <a:solidFill>
              <a:srgbClr val="DC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94360" y="5989320"/>
            <a:ext cx="10881360" cy="438912"/>
          </a:xfrm>
          <a:prstGeom prst="roundRect">
            <a:avLst/>
          </a:prstGeom>
          <a:solidFill>
            <a:srgbClr val="E0F2FE"/>
          </a:solidFill>
          <a:ln w="1016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6108192"/>
            <a:ext cx="10332720" cy="18288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960" b="0">
                <a:solidFill>
                  <a:srgbClr val="0F172A"/>
                </a:solidFill>
                <a:latin typeface="Microsoft YaHei"/>
              </a:rPr>
              <a:t>设计要点：baseline 不再从论文/代码链接自动挖掘，改为人工上传、AI 生成本地 demo baseline 或显式选择不使用，并在最终报告中记录来源和限制。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TrustSci-Agent V3 | 多智能体可信科研流程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